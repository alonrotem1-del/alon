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557000" y="457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1634" y="406400"/>
            <a:ext cx="4486466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בחינת היתכנות · CRM ופורטל לקוחות לתעשיית האירועים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8800" y="1778794"/>
            <a:ext cx="11074400" cy="5935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4674"/>
              </a:lnSpc>
            </a:pPr>
            <a:r>
              <a:rPr sz="41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הופכים רעיון למוצר עובד: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2372320"/>
            <a:ext cx="11074400" cy="5935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4674"/>
              </a:lnSpc>
            </a:pPr>
            <a:r>
              <a:rPr sz="41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בחינת היתכנות אסטרטגית וכלכלית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40200" y="3156347"/>
            <a:ext cx="7493000" cy="313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465"/>
              </a:lnSpc>
            </a:pPr>
            <a:r>
              <a:rPr sz="170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פגישת מיפוי, מתודולוגיית עבודה וקביעת הצעדים הבאים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8200" y="3799582"/>
            <a:ext cx="9525000" cy="720725"/>
          </a:xfrm>
          <a:prstGeom prst="roundRect">
            <a:avLst>
              <a:gd name="adj" fmla="val 12334"/>
            </a:avLst>
          </a:prstGeom>
          <a:solidFill>
            <a:srgbClr val="FFF7ED"/>
          </a:solidFill>
          <a:ln w="6350">
            <a:solidFill>
              <a:srgbClr val="FFEDD5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360150" y="4021832"/>
            <a:ext cx="25400" cy="276225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02589" y="4021832"/>
            <a:ext cx="8892461" cy="2762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75"/>
              </a:lnSpc>
            </a:pPr>
            <a:r>
              <a:rPr sz="1450" b="0">
                <a:solidFill>
                  <a:srgbClr val="1E293B"/>
                </a:solidFill>
                <a:latin typeface="Arial"/>
                <a:ea typeface="Arial"/>
                <a:cs typeface="Arial"/>
              </a:rPr>
              <a:t>פגישת היכרות וחשיבה משותפת — בגובה העיניים, בלי שיעורי בית, ועם מיקוד ביצירת ערך אמיתי לשטח.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8800" y="5714901"/>
            <a:ext cx="11074400" cy="63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07277" y="5937151"/>
            <a:ext cx="6350" cy="438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0027" y="5937151"/>
            <a:ext cx="141317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תאריך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99647" y="6172101"/>
            <a:ext cx="1633553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9 בספטמבר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8111" y="5937151"/>
            <a:ext cx="6350" cy="438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40861" y="5937151"/>
            <a:ext cx="1560016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משתתפים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2859" y="6172101"/>
            <a:ext cx="1798018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אלון רותם, בן, אופק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3034" y="5937151"/>
            <a:ext cx="2428677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פורמט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0793" y="6172101"/>
            <a:ext cx="2770918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פגישת היכרות · ללא התחייבות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19700" y="6521450"/>
            <a:ext cx="313500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שער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2954" y="6591300"/>
            <a:ext cx="10338693" cy="63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8342" y="6521450"/>
            <a:ext cx="327612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200"/>
              </a:lnSpc>
            </a:pPr>
            <a:r>
              <a:rPr sz="1000" b="1">
                <a:solidFill>
                  <a:srgbClr val="475569"/>
                </a:solidFill>
                <a:latin typeface="Arial"/>
                <a:ea typeface="Arial"/>
                <a:cs typeface="Arial"/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277600" y="406400"/>
            <a:ext cx="355600" cy="254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571500"/>
            <a:ext cx="11074400" cy="382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016"/>
              </a:lnSpc>
            </a:pPr>
            <a:r>
              <a:rPr sz="26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נעים להכיר: שילוב של פרקטיקה עסקית ומתודולוגיה אסטרטגית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42200" y="1195784"/>
            <a:ext cx="4191000" cy="4159945"/>
          </a:xfrm>
          <a:prstGeom prst="roundRect">
            <a:avLst>
              <a:gd name="adj" fmla="val 2442"/>
            </a:avLst>
          </a:prstGeom>
          <a:solidFill>
            <a:srgbClr val="FFF7ED"/>
          </a:solidFill>
          <a:ln w="6350">
            <a:solidFill>
              <a:srgbClr val="FFEDD5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9850" y="1443434"/>
            <a:ext cx="36957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האדם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9850" y="1773634"/>
            <a:ext cx="3695700" cy="1945084"/>
          </a:xfrm>
          <a:prstGeom prst="roundRect">
            <a:avLst>
              <a:gd name="adj" fmla="val 3917"/>
            </a:avLst>
          </a:prstGeom>
          <a:solidFill>
            <a:srgbClr val="FFFFFF"/>
          </a:solidFill>
          <a:ln w="6350">
            <a:solidFill>
              <a:srgbClr val="FFEDD5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6200" y="1779984"/>
            <a:ext cx="3683000" cy="19323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9850" y="3871119"/>
            <a:ext cx="3695700" cy="335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640"/>
              </a:lnSpc>
            </a:pPr>
            <a:r>
              <a:rPr sz="22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אלון רותם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9850" y="4295279"/>
            <a:ext cx="369570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950"/>
              </a:lnSpc>
            </a:pPr>
            <a:r>
              <a:rPr sz="130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נשוי לאירה, אבא של יולי, ליאו ורומי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9850" y="4542929"/>
            <a:ext cx="3695700" cy="6350"/>
          </a:xfrm>
          <a:prstGeom prst="rect">
            <a:avLst/>
          </a:prstGeom>
          <a:solidFill>
            <a:srgbClr val="FFEDD5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9850" y="4701679"/>
            <a:ext cx="36957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00"/>
              </a:lnSpc>
            </a:pPr>
            <a:r>
              <a:rPr sz="1200" b="0">
                <a:solidFill>
                  <a:srgbClr val="1E293B"/>
                </a:solidFill>
                <a:latin typeface="Arial"/>
                <a:ea typeface="Arial"/>
                <a:cs typeface="Arial"/>
              </a:rPr>
              <a:t>משפחה קודמת לכל דבר אחר — וזו גם הסיבה שאני עובד בשקיפות מלאה על זמן, תקציב וציפיות.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8800" y="1195784"/>
            <a:ext cx="6667500" cy="4159945"/>
          </a:xfrm>
          <a:prstGeom prst="roundRect">
            <a:avLst>
              <a:gd name="adj" fmla="val 2442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450" y="1443434"/>
            <a:ext cx="61722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המקצוע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450" y="2212876"/>
            <a:ext cx="6172200" cy="6350"/>
          </a:xfrm>
          <a:prstGeom prst="rect">
            <a:avLst/>
          </a:prstGeom>
          <a:solidFill>
            <a:srgbClr val="EDF1F5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19750" y="1833166"/>
            <a:ext cx="1358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תפקיד ב-BDO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0817" y="1833166"/>
            <a:ext cx="2629233" cy="2400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89"/>
              </a:lnSpc>
            </a:pPr>
            <a:r>
              <a:rPr sz="140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מנג'ר ביחידת הייעוץ האסטרטגי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6450" y="2798167"/>
            <a:ext cx="6172200" cy="6350"/>
          </a:xfrm>
          <a:prstGeom prst="rect">
            <a:avLst/>
          </a:prstGeom>
          <a:solidFill>
            <a:srgbClr val="EDF1F5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19750" y="2418457"/>
            <a:ext cx="1358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M.B.A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32246" y="2418457"/>
            <a:ext cx="2747804" cy="2400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89"/>
              </a:lnSpc>
            </a:pPr>
            <a:r>
              <a:rPr sz="140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אוניברסיטת תל אביב, בהצטיינות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9750" y="3003748"/>
            <a:ext cx="1358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B.A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188" y="3003748"/>
            <a:ext cx="4987862" cy="2400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89"/>
              </a:lnSpc>
            </a:pPr>
            <a:r>
              <a:rPr sz="140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מנהל עסקים, המרכז הבינתחומי הרצליה — בהצטיינות יתרה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450" y="3443188"/>
            <a:ext cx="6172200" cy="63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2210" y="3640038"/>
            <a:ext cx="72644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2800"/>
              </a:lnSpc>
            </a:pPr>
            <a:r>
              <a:rPr sz="28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10+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450" y="3627338"/>
            <a:ext cx="5429250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950"/>
              </a:lnSpc>
            </a:pPr>
            <a:r>
              <a:rPr sz="1300" b="0">
                <a:solidFill>
                  <a:srgbClr val="1E293B"/>
                </a:solidFill>
                <a:latin typeface="Arial"/>
                <a:ea typeface="Arial"/>
                <a:cs typeface="Arial"/>
              </a:rPr>
              <a:t>שנים בפרויקטים אסטרטגיים מקומיים ובינלאומיים — צמיחה, מיפוי שווקים, בחינות היתכנות ובניית מודלים עסקיים.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450" y="4198838"/>
            <a:ext cx="5429250" cy="441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39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דיסציפלינות:</a:t>
            </a:r>
            <a:r>
              <a:rPr sz="120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 אסטרטגיית צמיחה · אסטרטגיית פורטפוליו · אסטרטגיה דיגיטלית · בדיקות כלכליות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450" y="4716959"/>
            <a:ext cx="5429250" cy="441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39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מגזרים:</a:t>
            </a:r>
            <a:r>
              <a:rPr sz="120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 פיננסים · בריאות · תעשייה ביטחונית · לוגיסטיקה · תשתיות · תעשייה קיבוצית · חקלאות · פסולת · קנאביס רפואי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8800" y="5715298"/>
            <a:ext cx="11074400" cy="660102"/>
          </a:xfrm>
          <a:prstGeom prst="roundRect">
            <a:avLst>
              <a:gd name="adj" fmla="val 15391"/>
            </a:avLst>
          </a:prstGeom>
          <a:solidFill>
            <a:srgbClr val="0F172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391900" y="5918498"/>
            <a:ext cx="25400" cy="25370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1194" y="5918498"/>
            <a:ext cx="10945606" cy="2537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998"/>
              </a:lnSpc>
            </a:pPr>
            <a:r>
              <a:rPr sz="1350" b="0">
                <a:solidFill>
                  <a:srgbClr val="F8FAFC"/>
                </a:solidFill>
                <a:latin typeface="Arial"/>
                <a:ea typeface="Arial"/>
                <a:cs typeface="Arial"/>
              </a:rPr>
              <a:t>התפקיד שלי בליווי: לא לקטול חלומות, אלא לשמש </a:t>
            </a:r>
            <a:r>
              <a:rPr sz="135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Devil's Advocate חיובי</a:t>
            </a:r>
            <a:r>
              <a:rPr sz="1350" b="0">
                <a:solidFill>
                  <a:srgbClr val="F8FAFC"/>
                </a:solidFill>
                <a:latin typeface="Arial"/>
                <a:ea typeface="Arial"/>
                <a:cs typeface="Arial"/>
              </a:rPr>
              <a:t> — לוודא שלא שורפים תקציבים על תוכנה שלא תתאים לשוק.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6762" y="6521450"/>
            <a:ext cx="706438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נעים להכיר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954" y="6591300"/>
            <a:ext cx="9987855" cy="63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8342" y="6521450"/>
            <a:ext cx="327612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200"/>
              </a:lnSpc>
            </a:pPr>
            <a:r>
              <a:rPr sz="1000" b="1">
                <a:solidFill>
                  <a:srgbClr val="475569"/>
                </a:solidFill>
                <a:latin typeface="Arial"/>
                <a:ea typeface="Arial"/>
                <a:cs typeface="Arial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277600" y="406400"/>
            <a:ext cx="355600" cy="254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571500"/>
            <a:ext cx="11074400" cy="382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016"/>
              </a:lnSpc>
            </a:pPr>
            <a:r>
              <a:rPr sz="26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המתודולוגיה: מוודאים כדאיות לפני שכותבים שורת קוד אחת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1043384"/>
            <a:ext cx="8890000" cy="2488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960"/>
              </a:lnSpc>
            </a:pPr>
            <a:r>
              <a:rPr sz="14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תהליך מובנה ומדורג המבטיח החזר השקעה וממזער סיכונים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27800" y="1533525"/>
            <a:ext cx="5105400" cy="4029075"/>
          </a:xfrm>
          <a:prstGeom prst="roundRect">
            <a:avLst>
              <a:gd name="adj" fmla="val 2521"/>
            </a:avLst>
          </a:prstGeom>
          <a:solidFill>
            <a:srgbClr val="FFFFFF"/>
          </a:solidFill>
          <a:ln w="6350">
            <a:solidFill>
              <a:srgbClr val="FBD5B5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90250" y="1768475"/>
            <a:ext cx="4953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2600"/>
              </a:lnSpc>
            </a:pPr>
            <a:r>
              <a:rPr sz="26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4828" y="1768475"/>
            <a:ext cx="695722" cy="241300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6350">
            <a:solidFill>
              <a:srgbClr val="FFEDD5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38652" y="1800225"/>
            <a:ext cx="616649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שלב א'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5450" y="2085975"/>
            <a:ext cx="3975100" cy="2788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96"/>
              </a:lnSpc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בחינת היתכנות וכדאיות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5450" y="2409230"/>
            <a:ext cx="39751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Validation &amp; Viability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75450" y="2739430"/>
            <a:ext cx="4610100" cy="63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75450" y="3589933"/>
            <a:ext cx="4610100" cy="6350"/>
          </a:xfrm>
          <a:prstGeom prst="rect">
            <a:avLst/>
          </a:prstGeom>
          <a:solidFill>
            <a:srgbClr val="EDF1F5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322050" y="3012480"/>
            <a:ext cx="63500" cy="635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34400" y="2936280"/>
            <a:ext cx="2673350" cy="239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85"/>
              </a:lnSpc>
            </a:pPr>
            <a:r>
              <a:rPr sz="14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תיקוף הצורך בשוק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2798" y="3220045"/>
            <a:ext cx="3044952" cy="2301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12"/>
              </a:lnSpc>
            </a:pPr>
            <a:r>
              <a:rPr sz="125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מול חלופות קיימות — iPlan וכלים גנריים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75450" y="4389636"/>
            <a:ext cx="4610100" cy="6350"/>
          </a:xfrm>
          <a:prstGeom prst="rect">
            <a:avLst/>
          </a:prstGeom>
          <a:solidFill>
            <a:srgbClr val="EDF1F5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322050" y="3812183"/>
            <a:ext cx="63500" cy="635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3673" y="3735983"/>
            <a:ext cx="3254077" cy="239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85"/>
              </a:lnSpc>
            </a:pPr>
            <a:r>
              <a:rPr sz="14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הגדרת ה-MVP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12383" y="4019748"/>
            <a:ext cx="3695367" cy="2301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12"/>
              </a:lnSpc>
            </a:pPr>
            <a:r>
              <a:rPr sz="125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זיהוי 2–3 הפיצ'רים הקריטיים שאי אפשר בלעדיהם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322050" y="4611886"/>
            <a:ext cx="63500" cy="635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32228" y="4535686"/>
            <a:ext cx="4175522" cy="239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85"/>
              </a:lnSpc>
            </a:pPr>
            <a:r>
              <a:rPr sz="14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מודל כלכלי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0366" y="4819452"/>
            <a:ext cx="4727384" cy="2301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12"/>
              </a:lnSpc>
            </a:pPr>
            <a:r>
              <a:rPr sz="125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תמחור מנוי, נקודת איזון (Break-even), עלות פיתוח מול תחזוקה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6911" y="3408362"/>
            <a:ext cx="499412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00"/>
              </a:lnSpc>
            </a:pPr>
            <a:r>
              <a:rPr sz="2200" b="1">
                <a:solidFill>
                  <a:srgbClr val="CBD5E1"/>
                </a:solidFill>
                <a:latin typeface="Arial"/>
                <a:ea typeface="Arial"/>
                <a:cs typeface="Arial"/>
              </a:rPr>
              <a:t>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8800" y="1533525"/>
            <a:ext cx="5105400" cy="4029075"/>
          </a:xfrm>
          <a:prstGeom prst="roundRect">
            <a:avLst>
              <a:gd name="adj" fmla="val 2521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21250" y="1768475"/>
            <a:ext cx="4953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2600"/>
              </a:lnSpc>
            </a:pPr>
            <a:r>
              <a:rPr sz="26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92178" y="1768475"/>
            <a:ext cx="689372" cy="241300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6350">
            <a:solidFill>
              <a:srgbClr val="FFEDD5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6764" y="1800225"/>
            <a:ext cx="609536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שלב ב'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450" y="2085975"/>
            <a:ext cx="3975100" cy="2788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96"/>
              </a:lnSpc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תוכנית פעולה ויישום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450" y="2409230"/>
            <a:ext cx="39751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Roadmap &amp; Execution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450" y="2739430"/>
            <a:ext cx="4610100" cy="63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450" y="3589933"/>
            <a:ext cx="4610100" cy="6350"/>
          </a:xfrm>
          <a:prstGeom prst="rect">
            <a:avLst/>
          </a:prstGeom>
          <a:solidFill>
            <a:srgbClr val="EDF1F5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53050" y="3012480"/>
            <a:ext cx="63500" cy="635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35858" y="2936280"/>
            <a:ext cx="2502892" cy="239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85"/>
              </a:lnSpc>
            </a:pPr>
            <a:r>
              <a:rPr sz="14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בחירת מתווה טכנולוגי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84711" y="3220045"/>
            <a:ext cx="2854039" cy="2301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12"/>
              </a:lnSpc>
            </a:pPr>
            <a:r>
              <a:rPr sz="125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No-Code ואינטגרציות מול פיתוח מלא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6450" y="4389636"/>
            <a:ext cx="4610100" cy="6350"/>
          </a:xfrm>
          <a:prstGeom prst="rect">
            <a:avLst/>
          </a:prstGeom>
          <a:solidFill>
            <a:srgbClr val="EDF1F5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53050" y="3812183"/>
            <a:ext cx="63500" cy="635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83930" y="3735983"/>
            <a:ext cx="2054820" cy="239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85"/>
              </a:lnSpc>
            </a:pPr>
            <a:r>
              <a:rPr sz="14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מפת דרכים ליישום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6551" y="4019748"/>
            <a:ext cx="2352199" cy="2301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12"/>
              </a:lnSpc>
            </a:pPr>
            <a:r>
              <a:rPr sz="125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אבני דרך מוגדרות ולוחות זמנים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53050" y="4611886"/>
            <a:ext cx="63500" cy="635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48435" y="4535686"/>
            <a:ext cx="2390315" cy="239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85"/>
              </a:lnSpc>
            </a:pPr>
            <a:r>
              <a:rPr sz="14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אסטרטגיית חדירה (GTM)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34446" y="4819452"/>
            <a:ext cx="2304304" cy="2301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12"/>
              </a:lnSpc>
            </a:pPr>
            <a:r>
              <a:rPr sz="125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גיוס 30 המשתמשים הראשונים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8800" y="5753100"/>
            <a:ext cx="11074400" cy="6223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1385550" y="5924550"/>
            <a:ext cx="25400" cy="2794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9018" y="5948660"/>
            <a:ext cx="8306832" cy="23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20"/>
              </a:lnSpc>
            </a:pPr>
            <a:r>
              <a:rPr sz="1300" b="0">
                <a:solidFill>
                  <a:srgbClr val="1E293B"/>
                </a:solidFill>
                <a:latin typeface="Arial"/>
                <a:ea typeface="Arial"/>
                <a:cs typeface="Arial"/>
              </a:rPr>
              <a:t>שלב ב' נפתח רק אם שלב א' מראה כדאיות — ההחלטה על המשך היא שלכם, בנקודת עצירה מוגדרת מראש.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36875" y="6521450"/>
            <a:ext cx="696325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מתודולוגיה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2954" y="6591300"/>
            <a:ext cx="9996884" cy="63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8342" y="6521450"/>
            <a:ext cx="327612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200"/>
              </a:lnSpc>
            </a:pPr>
            <a:r>
              <a:rPr sz="1000" b="1">
                <a:solidFill>
                  <a:srgbClr val="475569"/>
                </a:solidFill>
                <a:latin typeface="Arial"/>
                <a:ea typeface="Arial"/>
                <a:cs typeface="Arial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277600" y="406400"/>
            <a:ext cx="355600" cy="254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571500"/>
            <a:ext cx="11074400" cy="382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016"/>
              </a:lnSpc>
            </a:pPr>
            <a:r>
              <a:rPr sz="26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שתי חלופות לבחירה: מותאם לעומס, לקצב ולתקציב שלכם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1043384"/>
            <a:ext cx="8890000" cy="2488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960"/>
              </a:lnSpc>
            </a:pPr>
            <a:r>
              <a:rPr sz="14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אותה מתודולוגיה, שני עומקים של בדיקה — ההבדל הוא כמה ראיות חיצוניות נאספות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3950" y="1533525"/>
            <a:ext cx="5429250" cy="4841875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6650" y="2279452"/>
            <a:ext cx="5403850" cy="6350"/>
          </a:xfrm>
          <a:prstGeom prst="rect">
            <a:avLst/>
          </a:prstGeom>
          <a:solidFill>
            <a:srgbClr val="FFEDD5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6650" y="1546225"/>
            <a:ext cx="5403850" cy="739577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98200" y="1685925"/>
            <a:ext cx="40640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2100"/>
              </a:lnSpc>
            </a:pPr>
            <a:r>
              <a:rPr sz="20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32550" y="1685925"/>
            <a:ext cx="4438650" cy="263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074"/>
              </a:lnSpc>
            </a:pPr>
            <a:r>
              <a:rPr sz="1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חלופה א' — ספרינט תיקוף רזה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550" y="1987352"/>
            <a:ext cx="443865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Lean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6650" y="3139877"/>
            <a:ext cx="5403850" cy="6350"/>
          </a:xfrm>
          <a:prstGeom prst="rect">
            <a:avLst/>
          </a:prstGeom>
          <a:solidFill>
            <a:srgbClr val="EDF1F5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2550" y="2362002"/>
            <a:ext cx="497205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מטרה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2550" y="2603302"/>
            <a:ext cx="4972050" cy="460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12"/>
              </a:lnSpc>
            </a:pPr>
            <a:r>
              <a:rPr sz="1250" b="0">
                <a:solidFill>
                  <a:srgbClr val="1E293B"/>
                </a:solidFill>
                <a:latin typeface="Arial"/>
                <a:ea typeface="Arial"/>
                <a:cs typeface="Arial"/>
              </a:rPr>
              <a:t>בדיקת שפיות מהירה וממוקדת, מבוססת על הידע הפנימי הקיים בחברה — 16 תקליטנים כמעבדת שטח.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6650" y="4125714"/>
            <a:ext cx="5403850" cy="6350"/>
          </a:xfrm>
          <a:prstGeom prst="rect">
            <a:avLst/>
          </a:prstGeom>
          <a:solidFill>
            <a:srgbClr val="EDF1F5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2550" y="3222427"/>
            <a:ext cx="497205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היקף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01548" y="3463727"/>
            <a:ext cx="1403052" cy="279400"/>
          </a:xfrm>
          <a:prstGeom prst="roundRect">
            <a:avLst>
              <a:gd name="adj" fmla="val 18181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0491" y="3514527"/>
            <a:ext cx="1408859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⁦3–4⁩</a:t>
            </a:r>
            <a:r>
              <a:rPr sz="120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 מפגשי עבודה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41730" y="3463727"/>
            <a:ext cx="1496318" cy="279400"/>
          </a:xfrm>
          <a:prstGeom prst="roundRect">
            <a:avLst>
              <a:gd name="adj" fmla="val 18181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9482" y="3514527"/>
            <a:ext cx="1513316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⁦15–20⁩</a:t>
            </a:r>
            <a:r>
              <a:rPr sz="120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 שעות עבודה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75227" y="3463727"/>
            <a:ext cx="1003002" cy="279400"/>
          </a:xfrm>
          <a:prstGeom prst="roundRect">
            <a:avLst>
              <a:gd name="adj" fmla="val 18181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22177" y="3514527"/>
            <a:ext cx="96080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⁦2–3⁩</a:t>
            </a:r>
            <a:r>
              <a:rPr sz="120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 שבועות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2550" y="4208264"/>
            <a:ext cx="497205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תוצרים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353800" y="4519414"/>
            <a:ext cx="50800" cy="508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2454" y="4449564"/>
            <a:ext cx="1662446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250" b="0">
                <a:solidFill>
                  <a:srgbClr val="1E293B"/>
                </a:solidFill>
                <a:latin typeface="Arial"/>
                <a:ea typeface="Arial"/>
                <a:cs typeface="Arial"/>
              </a:rPr>
              <a:t>מסמך אפיון MVP רזה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353800" y="4811514"/>
            <a:ext cx="50800" cy="508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79585" y="4741664"/>
            <a:ext cx="3285315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250" b="0">
                <a:solidFill>
                  <a:srgbClr val="1E293B"/>
                </a:solidFill>
                <a:latin typeface="Arial"/>
                <a:ea typeface="Arial"/>
                <a:cs typeface="Arial"/>
              </a:rPr>
              <a:t>מודל כלכלי באקסל — רגישות מנויים ועלויות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353800" y="5103614"/>
            <a:ext cx="50800" cy="508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20962" y="5033764"/>
            <a:ext cx="2043938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250" b="0">
                <a:solidFill>
                  <a:srgbClr val="1E293B"/>
                </a:solidFill>
                <a:latin typeface="Arial"/>
                <a:ea typeface="Arial"/>
                <a:cs typeface="Arial"/>
              </a:rPr>
              <a:t>מפת דרכים לשלבי הבדיקה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32550" y="5496620"/>
            <a:ext cx="4972050" cy="726380"/>
          </a:xfrm>
          <a:prstGeom prst="roundRect">
            <a:avLst>
              <a:gd name="adj" fmla="val 10490"/>
            </a:avLst>
          </a:prstGeom>
          <a:solidFill>
            <a:srgbClr val="C2410C"/>
          </a:solidFill>
          <a:ln w="6350">
            <a:solidFill>
              <a:srgbClr val="C2410C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62939" y="5770860"/>
            <a:ext cx="670211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FFE8D6"/>
                </a:solidFill>
                <a:latin typeface="Arial"/>
                <a:ea typeface="Arial"/>
                <a:cs typeface="Arial"/>
              </a:rPr>
              <a:t>השקעה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0512" y="5617270"/>
            <a:ext cx="2502551" cy="30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42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⁦9,000 – 13,000⁩</a:t>
            </a:r>
            <a:r>
              <a:rPr sz="2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5956300"/>
            <a:ext cx="2189063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FFD9BF"/>
                </a:solidFill>
                <a:latin typeface="Arial"/>
                <a:ea typeface="Arial"/>
                <a:cs typeface="Arial"/>
              </a:rPr>
              <a:t>+ מע"מ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8800" y="1533525"/>
            <a:ext cx="5429250" cy="4841875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5150" y="2279452"/>
            <a:ext cx="5416550" cy="63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9400" y="1679575"/>
            <a:ext cx="40640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2100"/>
              </a:lnSpc>
            </a:pPr>
            <a:r>
              <a:rPr sz="20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9761" y="1679575"/>
            <a:ext cx="4982639" cy="263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074"/>
              </a:lnSpc>
            </a:pPr>
            <a:r>
              <a:rPr sz="1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חלופה ב' — מחקר שוק ותוכנית עסקית מקיפה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050" y="1981002"/>
            <a:ext cx="445135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Comprehensive Strategy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5150" y="3139877"/>
            <a:ext cx="5416550" cy="6350"/>
          </a:xfrm>
          <a:prstGeom prst="rect">
            <a:avLst/>
          </a:prstGeom>
          <a:solidFill>
            <a:srgbClr val="EDF1F5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1050" y="2362002"/>
            <a:ext cx="498475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מטרה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050" y="2603302"/>
            <a:ext cx="4984750" cy="460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12"/>
              </a:lnSpc>
            </a:pPr>
            <a:r>
              <a:rPr sz="1250" b="0">
                <a:solidFill>
                  <a:srgbClr val="1E293B"/>
                </a:solidFill>
                <a:latin typeface="Arial"/>
                <a:ea typeface="Arial"/>
                <a:cs typeface="Arial"/>
              </a:rPr>
              <a:t>מחקר שוק חיצוני רחב ותוכנית עסקית מלאה — לגיוס שותפים, הלוואות או משקיעים.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5150" y="4125714"/>
            <a:ext cx="5416550" cy="6350"/>
          </a:xfrm>
          <a:prstGeom prst="rect">
            <a:avLst/>
          </a:prstGeom>
          <a:solidFill>
            <a:srgbClr val="EDF1F5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1050" y="3222427"/>
            <a:ext cx="498475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היקף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6910" y="3463727"/>
            <a:ext cx="5218890" cy="2301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12"/>
              </a:lnSpc>
            </a:pPr>
            <a:r>
              <a:rPr sz="1250" b="0">
                <a:solidFill>
                  <a:srgbClr val="1E293B"/>
                </a:solidFill>
                <a:latin typeface="Arial"/>
                <a:ea typeface="Arial"/>
                <a:cs typeface="Arial"/>
              </a:rPr>
              <a:t>מחקר שטח יזום, סקרים וראיונות עומק עם תקליטנים עצמאיים וחברות.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69482" y="3770114"/>
            <a:ext cx="1496318" cy="279400"/>
          </a:xfrm>
          <a:prstGeom prst="roundRect">
            <a:avLst>
              <a:gd name="adj" fmla="val 18181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57234" y="3820914"/>
            <a:ext cx="1513316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⁦45–60⁩</a:t>
            </a:r>
            <a:r>
              <a:rPr sz="120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 שעות עבודה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02980" y="3770114"/>
            <a:ext cx="1003002" cy="279400"/>
          </a:xfrm>
          <a:prstGeom prst="roundRect">
            <a:avLst>
              <a:gd name="adj" fmla="val 18181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49929" y="3820914"/>
            <a:ext cx="96080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⁦4–6⁩</a:t>
            </a:r>
            <a:r>
              <a:rPr sz="120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 שבועות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1050" y="4208264"/>
            <a:ext cx="498475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תוצרים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715000" y="4519414"/>
            <a:ext cx="50800" cy="508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11907" y="4449564"/>
            <a:ext cx="1414193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250" b="0">
                <a:solidFill>
                  <a:srgbClr val="1E293B"/>
                </a:solidFill>
                <a:latin typeface="Arial"/>
                <a:ea typeface="Arial"/>
                <a:cs typeface="Arial"/>
              </a:rPr>
              <a:t>כל תוצרי חלופה א'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715000" y="4811514"/>
            <a:ext cx="50800" cy="508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78964" y="4741664"/>
            <a:ext cx="1847136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250" b="0">
                <a:solidFill>
                  <a:srgbClr val="1E293B"/>
                </a:solidFill>
                <a:latin typeface="Arial"/>
                <a:ea typeface="Arial"/>
                <a:cs typeface="Arial"/>
              </a:rPr>
              <a:t>דוח מחקר שוק ומתחרים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15000" y="5103614"/>
            <a:ext cx="50800" cy="508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83357" y="5033764"/>
            <a:ext cx="4042743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250" b="0">
                <a:solidFill>
                  <a:srgbClr val="1E293B"/>
                </a:solidFill>
                <a:latin typeface="Arial"/>
                <a:ea typeface="Arial"/>
                <a:cs typeface="Arial"/>
              </a:rPr>
              <a:t>תוכנית עסקית מלאה — GTM, P&amp;L, אסטרטגיית שיווק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050" y="5496620"/>
            <a:ext cx="4984750" cy="732730"/>
          </a:xfrm>
          <a:prstGeom prst="roundRect">
            <a:avLst>
              <a:gd name="adj" fmla="val 10399"/>
            </a:avLst>
          </a:prstGeom>
          <a:solidFill>
            <a:srgbClr val="FFF7ED"/>
          </a:solidFill>
          <a:ln w="6350">
            <a:solidFill>
              <a:srgbClr val="FFEDD5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24139" y="5774035"/>
            <a:ext cx="670211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השקעה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0367" y="5620445"/>
            <a:ext cx="2676573" cy="30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420"/>
              </a:lnSpc>
            </a:pPr>
            <a:r>
              <a:rPr sz="22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⁦25,000 – 38,000⁩</a:t>
            </a:r>
            <a:r>
              <a:rPr sz="22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 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2500" y="5959475"/>
            <a:ext cx="2344440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+ מע"מ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54458" y="6521450"/>
            <a:ext cx="478742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חלופות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32954" y="6591300"/>
            <a:ext cx="10191155" cy="63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8342" y="6521450"/>
            <a:ext cx="327612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200"/>
              </a:lnSpc>
            </a:pPr>
            <a:r>
              <a:rPr sz="1000" b="1">
                <a:solidFill>
                  <a:srgbClr val="475569"/>
                </a:solidFill>
                <a:latin typeface="Arial"/>
                <a:ea typeface="Arial"/>
                <a:cs typeface="Arial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277600" y="406400"/>
            <a:ext cx="355600" cy="254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571500"/>
            <a:ext cx="11074400" cy="382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016"/>
              </a:lnSpc>
            </a:pPr>
            <a:r>
              <a:rPr sz="26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שאלות מפתח לדיון וסגירת צעדים הבאים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1043384"/>
            <a:ext cx="8890000" cy="2488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960"/>
              </a:lnSpc>
            </a:pPr>
            <a:r>
              <a:rPr sz="14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שלוש שאלות שהתשובות עליהן קובעות את היקף שלב א'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68766" y="2353667"/>
            <a:ext cx="3564434" cy="2299791"/>
          </a:xfrm>
          <a:prstGeom prst="roundRect">
            <a:avLst>
              <a:gd name="adj" fmla="val 4417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1016" y="2575917"/>
            <a:ext cx="3119934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700"/>
              </a:lnSpc>
            </a:pPr>
            <a:r>
              <a:rPr sz="1700" b="1">
                <a:solidFill>
                  <a:srgbClr val="CBD5E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87484" y="2918817"/>
            <a:ext cx="1223466" cy="25400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6350">
            <a:solidFill>
              <a:srgbClr val="FFEDD5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07978" y="2956917"/>
            <a:ext cx="120772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המוצר והשטח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91016" y="3312517"/>
            <a:ext cx="3119934" cy="63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1016" y="3458567"/>
            <a:ext cx="3119934" cy="9599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520"/>
              </a:lnSpc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מה הרגע המתסכל ביותר כיום מול הזוגות, שחייב לקבל מענה כבר ביום הראשון?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3833" y="2353667"/>
            <a:ext cx="3564434" cy="2299791"/>
          </a:xfrm>
          <a:prstGeom prst="roundRect">
            <a:avLst>
              <a:gd name="adj" fmla="val 4417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6083" y="2575917"/>
            <a:ext cx="3119934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700"/>
              </a:lnSpc>
            </a:pPr>
            <a:r>
              <a:rPr sz="1700" b="1">
                <a:solidFill>
                  <a:srgbClr val="CBD5E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0965" y="2918817"/>
            <a:ext cx="1365052" cy="25400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6350">
            <a:solidFill>
              <a:srgbClr val="FFEDD5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4469" y="2956917"/>
            <a:ext cx="1366298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היתכנות כלכלית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36083" y="3312517"/>
            <a:ext cx="3119934" cy="63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6083" y="3458567"/>
            <a:ext cx="3119934" cy="9599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520"/>
              </a:lnSpc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כמה תקליטן עצמאי ישלם בחודש על פתרון ייעודי — בלי להסס?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8899" y="2353667"/>
            <a:ext cx="3564434" cy="2299791"/>
          </a:xfrm>
          <a:prstGeom prst="roundRect">
            <a:avLst>
              <a:gd name="adj" fmla="val 4417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149" y="2575917"/>
            <a:ext cx="3119934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700"/>
              </a:lnSpc>
            </a:pPr>
            <a:r>
              <a:rPr sz="1700" b="1">
                <a:solidFill>
                  <a:srgbClr val="CBD5E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46487" y="2918817"/>
            <a:ext cx="1054596" cy="25400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6350">
            <a:solidFill>
              <a:srgbClr val="FFEDD5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7245" y="2956917"/>
            <a:ext cx="1018588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C2410C"/>
                </a:solidFill>
                <a:latin typeface="Arial"/>
                <a:ea typeface="Arial"/>
                <a:cs typeface="Arial"/>
              </a:rPr>
              <a:t>הנכס הקיים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149" y="3312517"/>
            <a:ext cx="3119934" cy="63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149" y="3458567"/>
            <a:ext cx="3119934" cy="9599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520"/>
              </a:lnSpc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איך רותמים את צוות 16 התקליטנים לבדיקת שטח מהירה, ללא עלות פיתוח?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8800" y="4843959"/>
            <a:ext cx="11074400" cy="711200"/>
          </a:xfrm>
          <a:prstGeom prst="roundRect">
            <a:avLst>
              <a:gd name="adj" fmla="val 14285"/>
            </a:avLst>
          </a:prstGeom>
          <a:solidFill>
            <a:srgbClr val="0F172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64093" y="5059859"/>
            <a:ext cx="1015107" cy="279400"/>
          </a:xfrm>
          <a:prstGeom prst="roundRect">
            <a:avLst>
              <a:gd name="adj" fmla="val 18181"/>
            </a:avLst>
          </a:prstGeom>
          <a:solidFill>
            <a:srgbClr val="FDBA74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3212" y="5110659"/>
            <a:ext cx="931688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הצעד הבא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01862" y="5066705"/>
            <a:ext cx="7984430" cy="2657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093"/>
              </a:lnSpc>
            </a:pPr>
            <a:r>
              <a:rPr sz="1550" b="1">
                <a:solidFill>
                  <a:srgbClr val="F8FAFC"/>
                </a:solidFill>
                <a:latin typeface="Arial"/>
                <a:ea typeface="Arial"/>
                <a:cs typeface="Arial"/>
              </a:rPr>
              <a:t>בחירת חלופת עבודה, תיאום לוחות זמנים והנעת שלב א'.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648" y="5110659"/>
            <a:ext cx="1407414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9 בספטמבר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1822" y="6521450"/>
            <a:ext cx="1121378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דיון וצעדים הבאים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2954" y="6591300"/>
            <a:ext cx="9617373" cy="63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8342" y="6521450"/>
            <a:ext cx="327612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200"/>
              </a:lnSpc>
            </a:pPr>
            <a:r>
              <a:rPr sz="1000" b="1">
                <a:solidFill>
                  <a:srgbClr val="475569"/>
                </a:solidFill>
                <a:latin typeface="Arial"/>
                <a:ea typeface="Arial"/>
                <a:cs typeface="Arial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