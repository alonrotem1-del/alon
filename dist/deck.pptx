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58800" cy="40640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064000"/>
            <a:ext cx="558800" cy="2794000"/>
          </a:xfrm>
          <a:prstGeom prst="rect">
            <a:avLst/>
          </a:prstGeom>
          <a:solidFill>
            <a:srgbClr val="2E6A69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69500" y="508000"/>
            <a:ext cx="1460500" cy="2984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40754" y="552450"/>
            <a:ext cx="1487646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20"/>
              </a:lnSpc>
            </a:pPr>
            <a:r>
              <a:rPr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פגישת היכרות ומיפוי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4000" y="1270000"/>
            <a:ext cx="9906000" cy="6369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5016"/>
              </a:lnSpc>
            </a:pPr>
            <a:r>
              <a:rPr sz="44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מרעיון למיזם בר־בחינה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75000" y="2184400"/>
            <a:ext cx="8255000" cy="2844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240"/>
              </a:lnSpc>
            </a:pPr>
            <a:r>
              <a:rPr sz="16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בחינת ההזדמנות, תיקוף ההנחות והגדרת הדרך קדימה</a:t>
            </a:r>
          </a:p>
        </p:txBody>
      </p:sp>
      <p:sp>
        <p:nvSpPr>
          <p:cNvPr id="8" name="Rectangle 7"/>
          <p:cNvSpPr/>
          <p:nvPr/>
        </p:nvSpPr>
        <p:spPr>
          <a:xfrm>
            <a:off x="3048000" y="2717800"/>
            <a:ext cx="8382000" cy="531416"/>
          </a:xfrm>
          <a:prstGeom prst="rect">
            <a:avLst/>
          </a:prstGeom>
          <a:solidFill>
            <a:srgbClr val="F8E7DD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98250" y="2717800"/>
            <a:ext cx="31750" cy="531416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67604" y="2857500"/>
            <a:ext cx="9040146" cy="2393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885"/>
              </a:lnSpc>
            </a:pPr>
            <a:r>
              <a:rPr sz="1300" b="0">
                <a:solidFill>
                  <a:srgbClr val="12212F"/>
                </a:solidFill>
                <a:latin typeface="Arial"/>
                <a:ea typeface="Arial"/>
                <a:cs typeface="Arial"/>
              </a:rPr>
              <a:t>המטרה היא לא להחליט היום אם לפתח — אלא להבין מה צריך להיות נכון כדי שהמיזם יהיה כדאי, ואיך נכון לבדוק זאת.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11133" y="4445000"/>
            <a:ext cx="3318867" cy="381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11133" y="4610100"/>
            <a:ext cx="3318867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היום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11133" y="4845050"/>
            <a:ext cx="3318867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רעיון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11133" y="5195491"/>
            <a:ext cx="3318867" cy="213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8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ניסיון ענפי והנחות עבודה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6566" y="4445000"/>
            <a:ext cx="3318966" cy="381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6566" y="4610100"/>
            <a:ext cx="3318966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התהליך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6566" y="4845050"/>
            <a:ext cx="3318966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בחינה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6566" y="5195491"/>
            <a:ext cx="3318966" cy="213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8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תיקוף מול שוק, לקוחות וכלכלה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2000" y="4445000"/>
            <a:ext cx="3318966" cy="38100"/>
          </a:xfrm>
          <a:prstGeom prst="rect">
            <a:avLst/>
          </a:prstGeom>
          <a:solidFill>
            <a:srgbClr val="2E6A69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000" y="4610100"/>
            <a:ext cx="3318966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2E6A69"/>
                </a:solidFill>
                <a:latin typeface="Arial"/>
                <a:ea typeface="Arial"/>
                <a:cs typeface="Arial"/>
              </a:rPr>
              <a:t>התוצר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4845050"/>
            <a:ext cx="3318966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החלטה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000" y="5195491"/>
            <a:ext cx="3318966" cy="213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8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מבוססת ראיות, עם תוכנית פעולה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6007100"/>
            <a:ext cx="10668000" cy="6350"/>
          </a:xfrm>
          <a:prstGeom prst="rect">
            <a:avLst/>
          </a:prstGeom>
          <a:solidFill>
            <a:srgbClr val="C7C2B8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11805" y="6121400"/>
            <a:ext cx="2318195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0">
                <a:solidFill>
                  <a:srgbClr val="7B7970"/>
                </a:solidFill>
                <a:latin typeface="Arial"/>
                <a:ea typeface="Arial"/>
                <a:cs typeface="Arial"/>
              </a:rPr>
              <a:t>אלון רותם · בן · אופק · ספטמבר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9846" y="6121400"/>
            <a:ext cx="485854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4C4A44"/>
                </a:solidFill>
                <a:latin typeface="Arial"/>
                <a:ea typeface="Arial"/>
                <a:cs typeface="Arial"/>
              </a:rPr>
              <a:t>⁦01 / 08⁩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325100" y="508000"/>
            <a:ext cx="1104900" cy="2984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09800" y="552450"/>
            <a:ext cx="11186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20"/>
              </a:lnSpc>
            </a:pPr>
            <a:r>
              <a:rPr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מי מלווה אתכם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05000" y="901700"/>
            <a:ext cx="9525000" cy="4266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3360"/>
              </a:lnSpc>
            </a:pPr>
            <a:r>
              <a:rPr sz="2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נעים להכיר</a:t>
            </a:r>
          </a:p>
        </p:txBody>
      </p:sp>
      <p:sp>
        <p:nvSpPr>
          <p:cNvPr id="5" name="Rectangle 4"/>
          <p:cNvSpPr/>
          <p:nvPr/>
        </p:nvSpPr>
        <p:spPr>
          <a:xfrm>
            <a:off x="9525000" y="2387600"/>
            <a:ext cx="1905000" cy="3327400"/>
          </a:xfrm>
          <a:prstGeom prst="rect">
            <a:avLst/>
          </a:prstGeom>
          <a:solidFill>
            <a:srgbClr val="F1EEE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525000" y="2387600"/>
            <a:ext cx="1905000" cy="381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77400" y="2578100"/>
            <a:ext cx="1600200" cy="1778000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7400" y="2578100"/>
            <a:ext cx="1600200" cy="1778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77400" y="4495800"/>
            <a:ext cx="1600200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אלון רותם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77400" y="4820841"/>
            <a:ext cx="16002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יועץ אסטרטגי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77400" y="5026521"/>
            <a:ext cx="16002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מנהל ב־</a:t>
            </a:r>
            <a:r>
              <a:rPr sz="12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⁦BDO⁩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55050" y="2387600"/>
            <a:ext cx="488950" cy="2540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464" y="2419350"/>
            <a:ext cx="380286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ניסיון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2730500"/>
            <a:ext cx="83820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כ־10 שנים בפרויקטים אסטרטגיים מקומיים ובינלאומיים: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86850" y="3075880"/>
            <a:ext cx="57150" cy="571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3966" y="3012380"/>
            <a:ext cx="2491284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אסטרטגיית צמיחה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20916" y="3075880"/>
            <a:ext cx="57150" cy="571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8033" y="3012380"/>
            <a:ext cx="2491284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בדיקות כדאיות וכניסה לשווקים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54983" y="3075880"/>
            <a:ext cx="57150" cy="571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000" y="3012380"/>
            <a:ext cx="2491383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מודלים עסקיים וכלכליים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86850" y="3331071"/>
            <a:ext cx="57150" cy="571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3966" y="3267571"/>
            <a:ext cx="2491284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אסטרטגיה דיגיטלית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20916" y="3331071"/>
            <a:ext cx="57150" cy="571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28033" y="3267571"/>
            <a:ext cx="2491284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תרגום תובנות לתוכנית פעולה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553450" y="3822005"/>
            <a:ext cx="590550" cy="254000"/>
          </a:xfrm>
          <a:prstGeom prst="rect">
            <a:avLst/>
          </a:prstGeom>
          <a:solidFill>
            <a:srgbClr val="2E6A69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36781" y="3853755"/>
            <a:ext cx="511969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השכלה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2000" y="4164905"/>
            <a:ext cx="838200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⁦M.B.A⁩</a:t>
            </a: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 — אוניברסיטת תל אביב, בהצטיינות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2000" y="4407396"/>
            <a:ext cx="838200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⁦B.A⁩</a:t>
            </a: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 מנהל עסקים — המרכז הבינתחומי הרצליה, בהצטיינות יתרה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7350" y="4961830"/>
            <a:ext cx="1136650" cy="254000"/>
          </a:xfrm>
          <a:prstGeom prst="rect">
            <a:avLst/>
          </a:prstGeom>
          <a:solidFill>
            <a:srgbClr val="22384A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89923" y="4993580"/>
            <a:ext cx="1158827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פרויקטים לדוגמה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2000" y="5304730"/>
            <a:ext cx="8382000" cy="4101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112250" y="5304730"/>
            <a:ext cx="31750" cy="410170"/>
          </a:xfrm>
          <a:prstGeom prst="rect">
            <a:avLst/>
          </a:prstGeom>
          <a:solidFill>
            <a:srgbClr val="2E6A69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1700" y="5399980"/>
            <a:ext cx="8070850" cy="213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8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אלטשולר שחם · כללית · ענבי טלי · מטבחי רגבה · פלסן סאסא · מבושלת · אסטרטגיית דיגיטל לתמה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62000" y="6007100"/>
            <a:ext cx="10668000" cy="6350"/>
          </a:xfrm>
          <a:prstGeom prst="rect">
            <a:avLst/>
          </a:prstGeom>
          <a:solidFill>
            <a:srgbClr val="C7C2B8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36328" y="6121400"/>
            <a:ext cx="1693672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0">
                <a:solidFill>
                  <a:srgbClr val="7B7970"/>
                </a:solidFill>
                <a:latin typeface="Arial"/>
                <a:ea typeface="Arial"/>
                <a:cs typeface="Arial"/>
              </a:rPr>
              <a:t>רקע מקצועי · התפקיד בליווי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9846" y="6121400"/>
            <a:ext cx="485854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4C4A44"/>
                </a:solidFill>
                <a:latin typeface="Arial"/>
                <a:ea typeface="Arial"/>
                <a:cs typeface="Arial"/>
              </a:rPr>
              <a:t>⁦02 / 08⁩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490200" y="508000"/>
            <a:ext cx="939800" cy="2984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400046" y="552450"/>
            <a:ext cx="928354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20"/>
              </a:lnSpc>
            </a:pPr>
            <a:r>
              <a:rPr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מסגרת הדיון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176" y="901700"/>
            <a:ext cx="10908824" cy="4266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3360"/>
              </a:lnSpc>
            </a:pPr>
            <a:r>
              <a:rPr sz="2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לפני שבונים מערכת — יש כמה שאלות שצריכות לקבל תשובה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94000" y="1828800"/>
            <a:ext cx="8636000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6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אלה לא מסקנות. אלה התחומים שהתהליך אמור לתת עליהם תשובה מבוססת.</a:t>
            </a:r>
          </a:p>
        </p:txBody>
      </p:sp>
      <p:sp>
        <p:nvSpPr>
          <p:cNvPr id="6" name="Rectangle 5"/>
          <p:cNvSpPr/>
          <p:nvPr/>
        </p:nvSpPr>
        <p:spPr>
          <a:xfrm>
            <a:off x="584200" y="2387600"/>
            <a:ext cx="11023600" cy="665460"/>
          </a:xfrm>
          <a:prstGeom prst="rect">
            <a:avLst/>
          </a:prstGeom>
          <a:solidFill>
            <a:srgbClr val="F1EEE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074400" y="2454275"/>
            <a:ext cx="355600" cy="3556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74400" y="2454275"/>
            <a:ext cx="3556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>
              <a:lnSpc>
                <a:spcPts val="140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67800" y="2517775"/>
            <a:ext cx="18415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שוק ולקוח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2530475"/>
            <a:ext cx="81407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מי הלקוח הראשון האמיתי — </a:t>
            </a: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⁦DJ⁩</a:t>
            </a: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 עצמאי, חברת </a:t>
            </a: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⁦DJs⁩</a:t>
            </a: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, או סגמנט אחר?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2780605"/>
            <a:ext cx="81407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כמה גדול ונגיש השוק הרלוונטי?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74400" y="3207941"/>
            <a:ext cx="355600" cy="3556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74400" y="3207941"/>
            <a:ext cx="3556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>
              <a:lnSpc>
                <a:spcPts val="140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67800" y="3271441"/>
            <a:ext cx="18415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הבעיה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3284141"/>
            <a:ext cx="81407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איזו בעיה כואבת ותכופה מספיק כדי להצדיק מעבר לפתרון חדש?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4200" y="3718520"/>
            <a:ext cx="11023600" cy="665460"/>
          </a:xfrm>
          <a:prstGeom prst="rect">
            <a:avLst/>
          </a:prstGeom>
          <a:solidFill>
            <a:srgbClr val="F1EEE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074400" y="3785195"/>
            <a:ext cx="355600" cy="3556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74400" y="3785195"/>
            <a:ext cx="3556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>
              <a:lnSpc>
                <a:spcPts val="140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67800" y="3848695"/>
            <a:ext cx="18415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מוצר ובידול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3861395"/>
            <a:ext cx="81407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מה המוצר הראשון באמת צריך לפתור?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4111526"/>
            <a:ext cx="81407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מדוע יהיה עדיף על </a:t>
            </a: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⁦iPlan⁩</a:t>
            </a: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 או על החלופות הקיימות?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074400" y="4450655"/>
            <a:ext cx="355600" cy="355600"/>
          </a:xfrm>
          <a:prstGeom prst="rect">
            <a:avLst/>
          </a:prstGeom>
          <a:solidFill>
            <a:srgbClr val="2E6A69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074400" y="4450655"/>
            <a:ext cx="3556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>
              <a:lnSpc>
                <a:spcPts val="140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67800" y="4514155"/>
            <a:ext cx="18415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כלכלה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2000" y="4526855"/>
            <a:ext cx="81407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מי משלם, וכמה ריאלי שישלם?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2000" y="4776986"/>
            <a:ext cx="81407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איזה היקף פעילות נדרש כדי שזה יהיה עסק אטרקטיבי?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4200" y="5049441"/>
            <a:ext cx="11023600" cy="665559"/>
          </a:xfrm>
          <a:prstGeom prst="rect">
            <a:avLst/>
          </a:prstGeom>
          <a:solidFill>
            <a:srgbClr val="F1EEE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074400" y="5116215"/>
            <a:ext cx="355600" cy="355600"/>
          </a:xfrm>
          <a:prstGeom prst="rect">
            <a:avLst/>
          </a:prstGeom>
          <a:solidFill>
            <a:srgbClr val="2E6A69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074400" y="5116215"/>
            <a:ext cx="3556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>
              <a:lnSpc>
                <a:spcPts val="140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67800" y="5179715"/>
            <a:ext cx="18415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דרך לביצוע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2000" y="5192415"/>
            <a:ext cx="81407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מה צריך להיות סגור לפני שמתחילים לפתח?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2000" y="5442545"/>
            <a:ext cx="81407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מי מוביל, מהי חלוקת התפקידים, אילו משאבים נדרשים ומהן אבני הדרך הנדרשות?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2000" y="6007100"/>
            <a:ext cx="10668000" cy="6350"/>
          </a:xfrm>
          <a:prstGeom prst="rect">
            <a:avLst/>
          </a:prstGeom>
          <a:solidFill>
            <a:srgbClr val="C7C2B8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74308" y="6121400"/>
            <a:ext cx="1855692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0">
                <a:solidFill>
                  <a:srgbClr val="7B7970"/>
                </a:solidFill>
                <a:latin typeface="Arial"/>
                <a:ea typeface="Arial"/>
                <a:cs typeface="Arial"/>
              </a:rPr>
              <a:t>תחומים לתיקוף — לא מסקנות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9846" y="6121400"/>
            <a:ext cx="485854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4C4A44"/>
                </a:solidFill>
                <a:latin typeface="Arial"/>
                <a:ea typeface="Arial"/>
                <a:cs typeface="Arial"/>
              </a:rPr>
              <a:t>⁦03 / 08⁩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769600" y="508000"/>
            <a:ext cx="660400" cy="2984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30087" y="552450"/>
            <a:ext cx="598313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20"/>
              </a:lnSpc>
            </a:pPr>
            <a:r>
              <a:rPr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התהליך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05000" y="901700"/>
            <a:ext cx="9525000" cy="4266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3360"/>
              </a:lnSpc>
            </a:pPr>
            <a:r>
              <a:rPr sz="2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המתודולוגיה: מהנחות עבודה להחלטה עסקית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10005" y="1828800"/>
            <a:ext cx="8719995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6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התהליך אינו ליניארי — ממצאים מהשוק חוזרים ומחדדים את ההנחות ואת הגדרת ההזדמנות.</a:t>
            </a:r>
          </a:p>
        </p:txBody>
      </p:sp>
      <p:sp>
        <p:nvSpPr>
          <p:cNvPr id="6" name="Rectangle 5"/>
          <p:cNvSpPr/>
          <p:nvPr/>
        </p:nvSpPr>
        <p:spPr>
          <a:xfrm>
            <a:off x="9357420" y="2387600"/>
            <a:ext cx="2072580" cy="2652117"/>
          </a:xfrm>
          <a:prstGeom prst="rect">
            <a:avLst/>
          </a:prstGeom>
          <a:solidFill>
            <a:srgbClr val="FFFFFF"/>
          </a:solidFill>
          <a:ln w="6350">
            <a:solidFill>
              <a:srgbClr val="E3DFD7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363770" y="2393950"/>
            <a:ext cx="2059880" cy="969764"/>
          </a:xfrm>
          <a:prstGeom prst="rect">
            <a:avLst/>
          </a:prstGeom>
          <a:solidFill>
            <a:srgbClr val="F8E7DD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363770" y="3357364"/>
            <a:ext cx="2059880" cy="6350"/>
          </a:xfrm>
          <a:prstGeom prst="rect">
            <a:avLst/>
          </a:prstGeom>
          <a:solidFill>
            <a:srgbClr val="E6C5B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228659" y="2463800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4A22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92159" y="2540000"/>
            <a:ext cx="272383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400"/>
              </a:lnSpc>
            </a:pPr>
            <a:r>
              <a:rPr sz="14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58010" y="2851150"/>
            <a:ext cx="89135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נקודת המוצא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40019" y="3092450"/>
            <a:ext cx="1907480" cy="4028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rtl="1">
              <a:lnSpc>
                <a:spcPts val="1586"/>
              </a:lnSpc>
            </a:pPr>
            <a:r>
              <a:rPr sz="13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הנחות עבודה ראשוניות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39970" y="3446264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לקוח יעד ובעיה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39970" y="3682405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תהליך העבודה כיום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39970" y="3918545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רעיון המוצר והחלופות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39970" y="4154686"/>
            <a:ext cx="1907480" cy="3960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הנחות לגבי תמחור ופוטנציאל צמיחה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9970" y="4607917"/>
            <a:ext cx="190748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50"/>
              </a:lnSpc>
            </a:pPr>
            <a:r>
              <a:rPr sz="1000" b="0">
                <a:solidFill>
                  <a:srgbClr val="7B7970"/>
                </a:solidFill>
                <a:latin typeface="Arial"/>
                <a:ea typeface="Arial"/>
                <a:cs typeface="Arial"/>
              </a:rPr>
              <a:t>מנוסחות מהידע הענפי שלכם — כהנחות, לא כמסקנות.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08540" y="2387600"/>
            <a:ext cx="2072680" cy="2652117"/>
          </a:xfrm>
          <a:prstGeom prst="rect">
            <a:avLst/>
          </a:prstGeom>
          <a:solidFill>
            <a:srgbClr val="FFFFFF"/>
          </a:solidFill>
          <a:ln w="6350">
            <a:solidFill>
              <a:srgbClr val="E3DFD7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14890" y="2393950"/>
            <a:ext cx="2059980" cy="969764"/>
          </a:xfrm>
          <a:prstGeom prst="rect">
            <a:avLst/>
          </a:prstGeom>
          <a:solidFill>
            <a:srgbClr val="F8E7DD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14890" y="3357364"/>
            <a:ext cx="2059980" cy="6350"/>
          </a:xfrm>
          <a:prstGeom prst="rect">
            <a:avLst/>
          </a:prstGeom>
          <a:solidFill>
            <a:srgbClr val="E6C5B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079780" y="2463800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4A22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43280" y="2540000"/>
            <a:ext cx="272383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400"/>
              </a:lnSpc>
            </a:pPr>
            <a:r>
              <a:rPr sz="14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45690" y="2851150"/>
            <a:ext cx="832564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איסוף ראיות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91090" y="3092450"/>
            <a:ext cx="1907580" cy="4028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rtl="1">
              <a:lnSpc>
                <a:spcPts val="1586"/>
              </a:lnSpc>
            </a:pPr>
            <a:r>
              <a:rPr sz="13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בדיקת השוק והלקוחות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91090" y="3446264"/>
            <a:ext cx="19075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מיפוי שוק וגודלו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91090" y="3682405"/>
            <a:ext cx="19075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ניתוח חלופות ומתחרים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1090" y="3918545"/>
            <a:ext cx="19075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ראיונות לקוחות ומומחים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91090" y="4154686"/>
            <a:ext cx="19075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חסמי מעבר ונכונות לשלם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59759" y="2387600"/>
            <a:ext cx="2072580" cy="2652117"/>
          </a:xfrm>
          <a:prstGeom prst="rect">
            <a:avLst/>
          </a:prstGeom>
          <a:solidFill>
            <a:srgbClr val="FFFFFF"/>
          </a:solidFill>
          <a:ln w="6350">
            <a:solidFill>
              <a:srgbClr val="E3DFD7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66109" y="2393950"/>
            <a:ext cx="2059880" cy="969764"/>
          </a:xfrm>
          <a:prstGeom prst="rect">
            <a:avLst/>
          </a:prstGeom>
          <a:solidFill>
            <a:srgbClr val="F8E7DD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66109" y="3357364"/>
            <a:ext cx="2059880" cy="6350"/>
          </a:xfrm>
          <a:prstGeom prst="rect">
            <a:avLst/>
          </a:prstGeom>
          <a:solidFill>
            <a:srgbClr val="E6C5B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930999" y="2463800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4A22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94499" y="2540000"/>
            <a:ext cx="272383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400"/>
              </a:lnSpc>
            </a:pPr>
            <a:r>
              <a:rPr sz="14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39115" y="2851150"/>
            <a:ext cx="415734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מיקוד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42359" y="3092450"/>
            <a:ext cx="1907480" cy="4028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rtl="1">
              <a:lnSpc>
                <a:spcPts val="1586"/>
              </a:lnSpc>
            </a:pPr>
            <a:r>
              <a:rPr sz="13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חידוד ההזדמנות והמוצר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42309" y="3446264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לקוח יעד מוגדר (</a:t>
            </a: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⁦ICP⁩</a:t>
            </a: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42309" y="3682405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הבעיה המרכזית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42309" y="3918545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הצעת הערך והבידול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42309" y="4154686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גבולות המוצר הראשון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910880" y="2387600"/>
            <a:ext cx="2072680" cy="2652117"/>
          </a:xfrm>
          <a:prstGeom prst="rect">
            <a:avLst/>
          </a:prstGeom>
          <a:solidFill>
            <a:srgbClr val="FFFFFF"/>
          </a:solidFill>
          <a:ln w="6350">
            <a:solidFill>
              <a:srgbClr val="E3DFD7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917230" y="2393950"/>
            <a:ext cx="2059980" cy="969764"/>
          </a:xfrm>
          <a:prstGeom prst="rect">
            <a:avLst/>
          </a:prstGeom>
          <a:solidFill>
            <a:srgbClr val="E2EDEA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917230" y="3357364"/>
            <a:ext cx="2059980" cy="6350"/>
          </a:xfrm>
          <a:prstGeom prst="rect">
            <a:avLst/>
          </a:prstGeom>
          <a:solidFill>
            <a:srgbClr val="B9D2CE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782120" y="2463800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6A69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845620" y="2540000"/>
            <a:ext cx="272383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400"/>
              </a:lnSpc>
            </a:pPr>
            <a:r>
              <a:rPr sz="1400" b="1">
                <a:solidFill>
                  <a:srgbClr val="2E6A69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16222" y="2851150"/>
            <a:ext cx="361172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2E6A69"/>
                </a:solidFill>
                <a:latin typeface="Arial"/>
                <a:ea typeface="Arial"/>
                <a:cs typeface="Arial"/>
              </a:rPr>
              <a:t>מודל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993430" y="3092450"/>
            <a:ext cx="1907580" cy="4028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rtl="1">
              <a:lnSpc>
                <a:spcPts val="1586"/>
              </a:lnSpc>
            </a:pPr>
            <a:r>
              <a:rPr sz="13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בחינת הכדאיות הכלכלית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93430" y="3446264"/>
            <a:ext cx="19075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שוק נגיש ותמחור אפשרי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93430" y="3682405"/>
            <a:ext cx="19075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הנחות אימוץ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993430" y="3918545"/>
            <a:ext cx="19075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עלויות פיתוח ותפעול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93430" y="4154686"/>
            <a:ext cx="19075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תרחישים ורגישויות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62099" y="2387600"/>
            <a:ext cx="2072580" cy="2652117"/>
          </a:xfrm>
          <a:prstGeom prst="rect">
            <a:avLst/>
          </a:prstGeom>
          <a:solidFill>
            <a:srgbClr val="FFFFFF"/>
          </a:solidFill>
          <a:ln w="6350">
            <a:solidFill>
              <a:srgbClr val="E3DFD7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68449" y="2393950"/>
            <a:ext cx="2059880" cy="969764"/>
          </a:xfrm>
          <a:prstGeom prst="rect">
            <a:avLst/>
          </a:prstGeom>
          <a:solidFill>
            <a:srgbClr val="E2EDEA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68449" y="3357364"/>
            <a:ext cx="2059880" cy="6350"/>
          </a:xfrm>
          <a:prstGeom prst="rect">
            <a:avLst/>
          </a:prstGeom>
          <a:solidFill>
            <a:srgbClr val="B9D2CE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1633339" y="2463800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6A69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696839" y="2540000"/>
            <a:ext cx="272383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400"/>
              </a:lnSpc>
            </a:pPr>
            <a:r>
              <a:rPr sz="1400" b="1">
                <a:solidFill>
                  <a:srgbClr val="2E6A69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481907" y="2851150"/>
            <a:ext cx="503857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2E6A69"/>
                </a:solidFill>
                <a:latin typeface="Arial"/>
                <a:ea typeface="Arial"/>
                <a:cs typeface="Arial"/>
              </a:rPr>
              <a:t>מסקנה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1090" y="3092450"/>
            <a:ext cx="1894697" cy="2014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rtl="1">
              <a:lnSpc>
                <a:spcPts val="1586"/>
              </a:lnSpc>
            </a:pPr>
            <a:r>
              <a:rPr sz="13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החלטה ותוכנית פעולה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44649" y="3446264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אבני דרך ושערי החלטה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4649" y="3682405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שלבי בדיקה ופיתוח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4649" y="3918545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דרך ראשונית לשוק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4649" y="4154686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אחריות וצעדים הבאים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059759" y="5187950"/>
            <a:ext cx="6370241" cy="527050"/>
          </a:xfrm>
          <a:prstGeom prst="rect">
            <a:avLst/>
          </a:prstGeom>
          <a:solidFill>
            <a:srgbClr val="F8E7DD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059759" y="5187950"/>
            <a:ext cx="6370241" cy="254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156950" y="5289550"/>
            <a:ext cx="214376" cy="20439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610"/>
              </a:lnSpc>
            </a:pPr>
            <a:r>
              <a:rPr sz="14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⇆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951809" y="5289550"/>
            <a:ext cx="6116241" cy="4115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12212F"/>
                </a:solidFill>
                <a:latin typeface="Arial"/>
                <a:ea typeface="Arial"/>
                <a:cs typeface="Arial"/>
              </a:rPr>
              <a:t>שלבים 1–3 מחזוריים: ראיות מהשוק מחזירות אותנו לחדד את ההנחות ואת הגדרת המוצר.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62099" y="5187950"/>
            <a:ext cx="4221460" cy="527050"/>
          </a:xfrm>
          <a:prstGeom prst="rect">
            <a:avLst/>
          </a:prstGeom>
          <a:solidFill>
            <a:srgbClr val="E2EDEA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62099" y="5187950"/>
            <a:ext cx="4221460" cy="25400"/>
          </a:xfrm>
          <a:prstGeom prst="rect">
            <a:avLst/>
          </a:prstGeom>
          <a:solidFill>
            <a:srgbClr val="2E6A69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498380" y="5324475"/>
            <a:ext cx="358180" cy="273050"/>
          </a:xfrm>
          <a:prstGeom prst="rect">
            <a:avLst/>
          </a:prstGeom>
          <a:solidFill>
            <a:srgbClr val="2E6A69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80930" y="5368925"/>
            <a:ext cx="289163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200"/>
              </a:lnSpc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GO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766840" y="5324475"/>
            <a:ext cx="680740" cy="2730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849390" y="5368925"/>
            <a:ext cx="6711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200"/>
              </a:lnSpc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ADJUST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196530" y="5324475"/>
            <a:ext cx="519509" cy="273050"/>
          </a:xfrm>
          <a:prstGeom prst="rect">
            <a:avLst/>
          </a:prstGeom>
          <a:solidFill>
            <a:srgbClr val="12212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279080" y="5368925"/>
            <a:ext cx="469741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200"/>
              </a:lnSpc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STOP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89099" y="5289550"/>
            <a:ext cx="2180431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50"/>
              </a:lnSpc>
            </a:pPr>
            <a:r>
              <a:rPr sz="10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שלב 5 נפתח באחת משלוש התוצאות — כולן לגיטימיות.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62000" y="6007100"/>
            <a:ext cx="10668000" cy="6350"/>
          </a:xfrm>
          <a:prstGeom prst="rect">
            <a:avLst/>
          </a:prstGeom>
          <a:solidFill>
            <a:srgbClr val="C7C2B8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746218" y="6121400"/>
            <a:ext cx="1683782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0">
                <a:solidFill>
                  <a:srgbClr val="7B7970"/>
                </a:solidFill>
                <a:latin typeface="Arial"/>
                <a:ea typeface="Arial"/>
                <a:cs typeface="Arial"/>
              </a:rPr>
              <a:t>תהליך מחזורי — לא ליניארי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69846" y="6121400"/>
            <a:ext cx="485854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4C4A44"/>
                </a:solidFill>
                <a:latin typeface="Arial"/>
                <a:ea typeface="Arial"/>
                <a:cs typeface="Arial"/>
              </a:rPr>
              <a:t>⁦04 / 08⁩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553700" y="508000"/>
            <a:ext cx="876300" cy="2984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487501" y="552450"/>
            <a:ext cx="840899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20"/>
              </a:lnSpc>
            </a:pPr>
            <a:r>
              <a:rPr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דרכי עבודה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05000" y="901700"/>
            <a:ext cx="9525000" cy="4266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3360"/>
              </a:lnSpc>
            </a:pPr>
            <a:r>
              <a:rPr sz="2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שתי דרכים לבחון את ההזדמנות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76371" y="1828800"/>
            <a:ext cx="9353629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6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אותה מסגרת אסטרטגית. ההבדל הוא מי מבצע את המחקר — ומכאן עומק הראיות ומידת עצמאותן.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4900" y="2387600"/>
            <a:ext cx="5245100" cy="3327400"/>
          </a:xfrm>
          <a:prstGeom prst="rect">
            <a:avLst/>
          </a:prstGeom>
          <a:solidFill>
            <a:srgbClr val="FFFFFF"/>
          </a:solidFill>
          <a:ln w="6350">
            <a:solidFill>
              <a:srgbClr val="E3DFD7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191250" y="2393950"/>
            <a:ext cx="5232400" cy="4191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9050" y="2489200"/>
            <a:ext cx="48768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חלופה א׳ — ליווי אסטרטגי מונחה</a:t>
            </a:r>
          </a:p>
        </p:txBody>
      </p:sp>
      <p:sp>
        <p:nvSpPr>
          <p:cNvPr id="9" name="Rectangle 8"/>
          <p:cNvSpPr/>
          <p:nvPr/>
        </p:nvSpPr>
        <p:spPr>
          <a:xfrm>
            <a:off x="6369050" y="3427611"/>
            <a:ext cx="4876800" cy="6350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69050" y="2927350"/>
            <a:ext cx="4876800" cy="4113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אלון מוביל את המתודולוגיה, המסגרות, הניתוח והמודל הכלכלי; בן ואופק משלימים משימות בין המפגשים.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6350" y="3535561"/>
            <a:ext cx="23495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אלון מוביל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96350" y="3770511"/>
            <a:ext cx="2349500" cy="617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מתודולוגיה ומסגרות עבודה · אתגור הנחות · ניתוח ממצאים · מודל כלכלי · סינתזה ומסקנות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9050" y="3535561"/>
            <a:ext cx="23495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בן ואופק משלימים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9050" y="3770511"/>
            <a:ext cx="2349500" cy="617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נתונים פנימיים · איסוף מידע מהשוק · בדיקות שטח בהתאם להנחיות · משימות בין המפגשים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9050" y="4476452"/>
            <a:ext cx="4876800" cy="351730"/>
          </a:xfrm>
          <a:prstGeom prst="rect">
            <a:avLst/>
          </a:prstGeom>
          <a:solidFill>
            <a:srgbClr val="F8E7DD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20450" y="4476452"/>
            <a:ext cx="25400" cy="35173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83350" y="4546302"/>
            <a:ext cx="46228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12212F"/>
                </a:solidFill>
                <a:latin typeface="Arial"/>
                <a:ea typeface="Arial"/>
                <a:cs typeface="Arial"/>
              </a:rPr>
              <a:t>ראיונות עומק קריטיים יבוצעו בהובלתי לפי הצורך.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69050" y="4954389"/>
            <a:ext cx="4876800" cy="6350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36250" y="5049639"/>
            <a:ext cx="6096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יתרון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05204" y="5036939"/>
            <a:ext cx="4329446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תהליך חסכוני ומהיר יותר, הנשען על היכרות קיימת עם הענף.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69050" y="5306120"/>
            <a:ext cx="4876800" cy="6350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36250" y="5401370"/>
            <a:ext cx="6096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7B7970"/>
                </a:solidFill>
                <a:latin typeface="Arial"/>
                <a:ea typeface="Arial"/>
                <a:cs typeface="Arial"/>
              </a:rPr>
              <a:t>מגבלה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9050" y="5388670"/>
            <a:ext cx="41656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רמת התיקוף החיצוני והעצמאי נמוכה יותר.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2000" y="2387600"/>
            <a:ext cx="5245100" cy="3327400"/>
          </a:xfrm>
          <a:prstGeom prst="rect">
            <a:avLst/>
          </a:prstGeom>
          <a:solidFill>
            <a:srgbClr val="FFFFFF"/>
          </a:solidFill>
          <a:ln w="6350">
            <a:solidFill>
              <a:srgbClr val="E3DFD7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8350" y="2393950"/>
            <a:ext cx="5232400" cy="419100"/>
          </a:xfrm>
          <a:prstGeom prst="rect">
            <a:avLst/>
          </a:prstGeom>
          <a:solidFill>
            <a:srgbClr val="2E6A69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6150" y="2489200"/>
            <a:ext cx="48768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חלופה ב׳ — תהליך מחקר מלא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6150" y="3427611"/>
            <a:ext cx="4876800" cy="6350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6150" y="2927350"/>
            <a:ext cx="4876800" cy="4113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אלון מוביל את המחקר והניתוח מקצה לקצה — עיצוב המחקר, עבודת השטח והראיונות מול לקוחות ומומחים.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3450" y="3535561"/>
            <a:ext cx="23495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אלון מוביל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73450" y="3770511"/>
            <a:ext cx="2349500" cy="617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מיפוי שוק · ניתוח חלופות ומתחרים · עיצוב המחקר · ראיונות עומק · סינתזת ראיות · מודל כלכלי · מפת דרכים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6150" y="3535561"/>
            <a:ext cx="23495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בן ואופק מספקים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6150" y="3770511"/>
            <a:ext cx="2349500" cy="4113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גישה ונתונים פנימיים · הקשר ענפי · הפניות · שותפות בהחלטות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6150" y="4954389"/>
            <a:ext cx="4876800" cy="6350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13350" y="5049639"/>
            <a:ext cx="6096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2E6A69"/>
                </a:solidFill>
                <a:latin typeface="Arial"/>
                <a:ea typeface="Arial"/>
                <a:cs typeface="Arial"/>
              </a:rPr>
              <a:t>יתרון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6150" y="5036939"/>
            <a:ext cx="41656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רמת עומק, עצמאות ואיכות ראיות גבוהה יותר.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46150" y="5306120"/>
            <a:ext cx="4876800" cy="6350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13350" y="5401370"/>
            <a:ext cx="6096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7B7970"/>
                </a:solidFill>
                <a:latin typeface="Arial"/>
                <a:ea typeface="Arial"/>
                <a:cs typeface="Arial"/>
              </a:rPr>
              <a:t>מגבלה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6150" y="5388670"/>
            <a:ext cx="41656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היקף עבודה גדול יותר, ולכן גם לוח זמנים ארוך יותר.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62000" y="6007100"/>
            <a:ext cx="10668000" cy="6350"/>
          </a:xfrm>
          <a:prstGeom prst="rect">
            <a:avLst/>
          </a:prstGeom>
          <a:solidFill>
            <a:srgbClr val="C7C2B8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78405" y="6121400"/>
            <a:ext cx="2851595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0">
                <a:solidFill>
                  <a:srgbClr val="7B7970"/>
                </a:solidFill>
                <a:latin typeface="Arial"/>
                <a:ea typeface="Arial"/>
                <a:cs typeface="Arial"/>
              </a:rPr>
              <a:t>אותה מסגרת אסטרטגית · הבדל בעומק התיקוף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9846" y="6121400"/>
            <a:ext cx="485854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4C4A44"/>
                </a:solidFill>
                <a:latin typeface="Arial"/>
                <a:ea typeface="Arial"/>
                <a:cs typeface="Arial"/>
              </a:rPr>
              <a:t>⁦05 / 08⁩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41050" y="508000"/>
            <a:ext cx="488950" cy="2984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55338" y="552450"/>
            <a:ext cx="373063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20"/>
              </a:lnSpc>
            </a:pPr>
            <a:r>
              <a:rPr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לדיון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05000" y="901700"/>
            <a:ext cx="9525000" cy="4266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3360"/>
              </a:lnSpc>
            </a:pPr>
            <a:r>
              <a:rPr sz="2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מה חשוב שנבין היום?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94000" y="1828800"/>
            <a:ext cx="8636000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6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חמש שאלות שיקבעו את מטרת העבודה ואת רמת הבדיקה המתאימה.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074400" y="2542480"/>
            <a:ext cx="355600" cy="3556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7C2B8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87100" y="2555180"/>
            <a:ext cx="330200" cy="330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>
              <a:lnSpc>
                <a:spcPts val="1300"/>
              </a:lnSpc>
            </a:pPr>
            <a:r>
              <a:rPr sz="1300" b="1">
                <a:solidFill>
                  <a:srgbClr val="41586C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2608858"/>
            <a:ext cx="10134600" cy="2228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5"/>
              </a:lnSpc>
            </a:pPr>
            <a:r>
              <a:rPr sz="1300" b="0">
                <a:solidFill>
                  <a:srgbClr val="12212F"/>
                </a:solidFill>
                <a:latin typeface="Arial"/>
                <a:ea typeface="Arial"/>
                <a:cs typeface="Arial"/>
              </a:rPr>
              <a:t>מה בדיוק במצב הקיים גרם לכם לומר: "צריך לבנות לזה פתרון אחר"?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074400" y="3207941"/>
            <a:ext cx="355600" cy="3556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7C2B8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87100" y="3220641"/>
            <a:ext cx="330200" cy="330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>
              <a:lnSpc>
                <a:spcPts val="1300"/>
              </a:lnSpc>
            </a:pPr>
            <a:r>
              <a:rPr sz="1300" b="1">
                <a:solidFill>
                  <a:srgbClr val="41586C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3274318"/>
            <a:ext cx="10134600" cy="2228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5"/>
              </a:lnSpc>
            </a:pPr>
            <a:r>
              <a:rPr sz="1300" b="0">
                <a:solidFill>
                  <a:srgbClr val="12212F"/>
                </a:solidFill>
                <a:latin typeface="Arial"/>
                <a:ea typeface="Arial"/>
                <a:cs typeface="Arial"/>
              </a:rPr>
              <a:t>למי אתם חושבים שהמוצר הראשון מיועד — ומה גורם לכם לחשוב שזה הלקוח הנכון?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074400" y="3873401"/>
            <a:ext cx="355600" cy="3556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7C2B8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87100" y="3886101"/>
            <a:ext cx="330200" cy="330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>
              <a:lnSpc>
                <a:spcPts val="1300"/>
              </a:lnSpc>
            </a:pPr>
            <a:r>
              <a:rPr sz="1300" b="1">
                <a:solidFill>
                  <a:srgbClr val="41586C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3939778"/>
            <a:ext cx="10134600" cy="2228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5"/>
              </a:lnSpc>
            </a:pPr>
            <a:r>
              <a:rPr sz="1300" b="0">
                <a:solidFill>
                  <a:srgbClr val="12212F"/>
                </a:solidFill>
                <a:latin typeface="Arial"/>
                <a:ea typeface="Arial"/>
                <a:cs typeface="Arial"/>
              </a:rPr>
              <a:t>מה כבר עשיתם עד היום: אפיון, שיחות עם לקוחות, נתונים, הצעות פיתוח או בדיקות אחרות?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074400" y="4538861"/>
            <a:ext cx="355600" cy="3556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7C2B8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87100" y="4551561"/>
            <a:ext cx="330200" cy="330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>
              <a:lnSpc>
                <a:spcPts val="1300"/>
              </a:lnSpc>
            </a:pPr>
            <a:r>
              <a:rPr sz="1300" b="1">
                <a:solidFill>
                  <a:srgbClr val="41586C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4605238"/>
            <a:ext cx="10134600" cy="2228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5"/>
              </a:lnSpc>
            </a:pPr>
            <a:r>
              <a:rPr sz="1300" b="0">
                <a:solidFill>
                  <a:srgbClr val="12212F"/>
                </a:solidFill>
                <a:latin typeface="Arial"/>
                <a:ea typeface="Arial"/>
                <a:cs typeface="Arial"/>
              </a:rPr>
              <a:t>מה אתם רוצים שהמיזם הזה יהיה בעוד 3–5 שנים — ומה מבחינתכם ייחשב הצלחה?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4200" y="5049441"/>
            <a:ext cx="11023600" cy="665559"/>
          </a:xfrm>
          <a:prstGeom prst="rect">
            <a:avLst/>
          </a:prstGeom>
          <a:solidFill>
            <a:srgbClr val="F8E7DD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074400" y="5204420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B44A22"/>
          </a:solidFill>
          <a:ln w="12700">
            <a:solidFill>
              <a:srgbClr val="B44A22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87100" y="5217120"/>
            <a:ext cx="330200" cy="330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>
              <a:lnSpc>
                <a:spcPts val="1300"/>
              </a:lnSpc>
            </a:pPr>
            <a:r>
              <a:rPr sz="1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5270798"/>
            <a:ext cx="10134600" cy="2228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5"/>
              </a:lnSpc>
            </a:pPr>
            <a:r>
              <a:rPr sz="13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מה הייתם רוצים לדעת בסוף תהליך הבדיקה כדי להרגיש בנוח לקבל החלטה על ההשקעה הבאה?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2000" y="6007100"/>
            <a:ext cx="10668000" cy="6350"/>
          </a:xfrm>
          <a:prstGeom prst="rect">
            <a:avLst/>
          </a:prstGeom>
          <a:solidFill>
            <a:srgbClr val="C7C2B8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74605" y="6121400"/>
            <a:ext cx="1255395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0">
                <a:solidFill>
                  <a:srgbClr val="7B7970"/>
                </a:solidFill>
                <a:latin typeface="Arial"/>
                <a:ea typeface="Arial"/>
                <a:cs typeface="Arial"/>
              </a:rPr>
              <a:t>פגישת היכרות ומיפוי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9846" y="6121400"/>
            <a:ext cx="485854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4C4A44"/>
                </a:solidFill>
                <a:latin typeface="Arial"/>
                <a:ea typeface="Arial"/>
                <a:cs typeface="Arial"/>
              </a:rPr>
              <a:t>⁦06 / 08⁩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458450" y="508000"/>
            <a:ext cx="971550" cy="2984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80377" y="552450"/>
            <a:ext cx="948023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20"/>
              </a:lnSpc>
            </a:pPr>
            <a:r>
              <a:rPr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תעריף והיקף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05000" y="901700"/>
            <a:ext cx="9525000" cy="4266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3360"/>
              </a:lnSpc>
            </a:pPr>
            <a:r>
              <a:rPr sz="2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מסגרת התקשרות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94000" y="1828800"/>
            <a:ext cx="8636000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6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התעריף זהה בשני המסלולים; היקף העבודה נגזר מאופי התהליך ומחלוקת המשימות.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2387600"/>
            <a:ext cx="10668000" cy="808930"/>
          </a:xfrm>
          <a:prstGeom prst="rect">
            <a:avLst/>
          </a:prstGeom>
          <a:solidFill>
            <a:srgbClr val="12212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58027" y="2774950"/>
            <a:ext cx="456073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B9D2CE"/>
                </a:solidFill>
                <a:latin typeface="Arial"/>
                <a:ea typeface="Arial"/>
                <a:cs typeface="Arial"/>
              </a:rPr>
              <a:t>תעריף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3150" y="2552700"/>
            <a:ext cx="857790" cy="4533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3570"/>
              </a:lnSpc>
            </a:pPr>
            <a:r>
              <a:rPr sz="3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7428" y="2724150"/>
            <a:ext cx="226822" cy="260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8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3032" y="2724150"/>
            <a:ext cx="727218" cy="260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80"/>
              </a:lnSpc>
            </a:pPr>
            <a:r>
              <a:rPr sz="1400" b="1">
                <a:solidFill>
                  <a:srgbClr val="E6C5B2"/>
                </a:solidFill>
                <a:latin typeface="Arial"/>
                <a:ea typeface="Arial"/>
                <a:cs typeface="Arial"/>
              </a:rPr>
              <a:t>+ מע"מ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714" y="2736850"/>
            <a:ext cx="913686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3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לשעת ייעוץ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4900" y="3361630"/>
            <a:ext cx="5245100" cy="176857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84900" y="3361630"/>
            <a:ext cx="5245100" cy="317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4900" y="5123855"/>
            <a:ext cx="5245100" cy="6350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84900" y="3361630"/>
            <a:ext cx="6350" cy="1768574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423650" y="3361630"/>
            <a:ext cx="6350" cy="1768574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69050" y="3856930"/>
            <a:ext cx="4876800" cy="6350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9050" y="3545780"/>
            <a:ext cx="48768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חלופה א׳ — ליווי אסטרטגי מונחה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9050" y="3964880"/>
            <a:ext cx="48768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7B7970"/>
                </a:solidFill>
                <a:latin typeface="Arial"/>
                <a:ea typeface="Arial"/>
                <a:cs typeface="Arial"/>
              </a:rPr>
              <a:t>היקף ראשוני משוער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9050" y="4187130"/>
            <a:ext cx="4876800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250"/>
              </a:lnSpc>
            </a:pPr>
            <a:r>
              <a:rPr sz="18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כ־</a:t>
            </a:r>
            <a:r>
              <a:rPr sz="18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⁦20–40⁩</a:t>
            </a:r>
            <a:r>
              <a:rPr sz="18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 שעות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9050" y="4765774"/>
            <a:ext cx="48768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טווח אינדיקטיבי בלבד — תלוי בהגדרת ההיקף ובחלוקת המשימות.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2000" y="3361630"/>
            <a:ext cx="5245100" cy="176857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2000" y="3361630"/>
            <a:ext cx="5245100" cy="31750"/>
          </a:xfrm>
          <a:prstGeom prst="rect">
            <a:avLst/>
          </a:prstGeom>
          <a:solidFill>
            <a:srgbClr val="2E6A69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2000" y="5123855"/>
            <a:ext cx="5245100" cy="6350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2000" y="3361630"/>
            <a:ext cx="6350" cy="1768574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00750" y="3361630"/>
            <a:ext cx="6350" cy="1768574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6150" y="3856930"/>
            <a:ext cx="4876800" cy="6350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6150" y="3545780"/>
            <a:ext cx="48768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חלופה ב׳ — תהליך מחקר מלא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6150" y="3964880"/>
            <a:ext cx="48768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7B7970"/>
                </a:solidFill>
                <a:latin typeface="Arial"/>
                <a:ea typeface="Arial"/>
                <a:cs typeface="Arial"/>
              </a:rPr>
              <a:t>היקף העבודה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150" y="4187130"/>
            <a:ext cx="48768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2E6A69"/>
                </a:solidFill>
                <a:latin typeface="Arial"/>
                <a:ea typeface="Arial"/>
                <a:cs typeface="Arial"/>
              </a:rPr>
              <a:t>יוגדר לאחר פגישת המיפוי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6150" y="4765774"/>
            <a:ext cx="48768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בהתאם לעומק המחקר, מספר הסגמנטים והיקף עבודת השטח.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62000" y="5295305"/>
            <a:ext cx="10668000" cy="419695"/>
          </a:xfrm>
          <a:prstGeom prst="rect">
            <a:avLst/>
          </a:prstGeom>
          <a:solidFill>
            <a:srgbClr val="F8E7DD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398250" y="5295305"/>
            <a:ext cx="31750" cy="419695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7100" y="5390555"/>
            <a:ext cx="10306050" cy="2228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5"/>
              </a:lnSpc>
            </a:pPr>
            <a:r>
              <a:rPr sz="1300" b="0">
                <a:solidFill>
                  <a:srgbClr val="12212F"/>
                </a:solidFill>
                <a:latin typeface="Arial"/>
                <a:ea typeface="Arial"/>
                <a:cs typeface="Arial"/>
              </a:rPr>
              <a:t>לאחר הפגישה ניתן יהיה לגבש </a:t>
            </a:r>
            <a:r>
              <a:rPr sz="1300" b="0">
                <a:solidFill>
                  <a:srgbClr val="12212F"/>
                </a:solidFill>
                <a:latin typeface="Arial"/>
                <a:ea typeface="Arial"/>
                <a:cs typeface="Arial"/>
              </a:rPr>
              <a:t>⁦Scope⁩</a:t>
            </a:r>
            <a:r>
              <a:rPr sz="1300" b="0">
                <a:solidFill>
                  <a:srgbClr val="12212F"/>
                </a:solidFill>
                <a:latin typeface="Arial"/>
                <a:ea typeface="Arial"/>
                <a:cs typeface="Arial"/>
              </a:rPr>
              <a:t>, הערכת שעות והצעת עבודה מסודרת.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2000" y="6007100"/>
            <a:ext cx="10668000" cy="6350"/>
          </a:xfrm>
          <a:prstGeom prst="rect">
            <a:avLst/>
          </a:prstGeom>
          <a:solidFill>
            <a:srgbClr val="C7C2B8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079" y="6121400"/>
            <a:ext cx="2798921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0">
                <a:solidFill>
                  <a:srgbClr val="7B7970"/>
                </a:solidFill>
                <a:latin typeface="Arial"/>
                <a:ea typeface="Arial"/>
                <a:cs typeface="Arial"/>
              </a:rPr>
              <a:t>תעריף שעתי · היקף ייקבע לאחר פגישת המיפוי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9846" y="6121400"/>
            <a:ext cx="485854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4C4A44"/>
                </a:solidFill>
                <a:latin typeface="Arial"/>
                <a:ea typeface="Arial"/>
                <a:cs typeface="Arial"/>
              </a:rPr>
              <a:t>⁦07 / 08⁩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420350" y="508000"/>
            <a:ext cx="1009650" cy="2984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24814" y="552450"/>
            <a:ext cx="1003586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20"/>
              </a:lnSpc>
            </a:pPr>
            <a:r>
              <a:rPr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צעדים הבאים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05000" y="901700"/>
            <a:ext cx="9525000" cy="4266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3360"/>
              </a:lnSpc>
            </a:pPr>
            <a:r>
              <a:rPr sz="2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איך מתקדמים מכאן?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94000" y="1828800"/>
            <a:ext cx="8636000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6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ארבעה צעדים מכאן לשלב הבדיקה.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7775" y="3003550"/>
            <a:ext cx="2562225" cy="2095500"/>
          </a:xfrm>
          <a:prstGeom prst="rect">
            <a:avLst/>
          </a:prstGeom>
          <a:solidFill>
            <a:srgbClr val="F8E7DD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80700" y="3181350"/>
            <a:ext cx="609600" cy="6096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80700" y="3181350"/>
            <a:ext cx="609600" cy="609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>
              <a:lnSpc>
                <a:spcPts val="2800"/>
              </a:lnSpc>
            </a:pPr>
            <a:r>
              <a:rPr sz="2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7475" y="4324350"/>
            <a:ext cx="2282825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250"/>
              </a:lnSpc>
            </a:pPr>
            <a:r>
              <a:rPr sz="1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מחדדים את מטרת העבודה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65850" y="3003550"/>
            <a:ext cx="2562225" cy="2095500"/>
          </a:xfrm>
          <a:prstGeom prst="rect">
            <a:avLst/>
          </a:prstGeom>
          <a:solidFill>
            <a:srgbClr val="F8E7DD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78775" y="3181350"/>
            <a:ext cx="609600" cy="6096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78775" y="3181350"/>
            <a:ext cx="609600" cy="609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>
              <a:lnSpc>
                <a:spcPts val="2800"/>
              </a:lnSpc>
            </a:pPr>
            <a:r>
              <a:rPr sz="2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5550" y="4324350"/>
            <a:ext cx="2282825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250"/>
              </a:lnSpc>
            </a:pPr>
            <a:r>
              <a:rPr sz="1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בוחרים את מודל העבודה המתאים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63925" y="3003550"/>
            <a:ext cx="2562225" cy="2095500"/>
          </a:xfrm>
          <a:prstGeom prst="rect">
            <a:avLst/>
          </a:prstGeom>
          <a:solidFill>
            <a:srgbClr val="F8E7DD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276850" y="3181350"/>
            <a:ext cx="609600" cy="6096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76850" y="3181350"/>
            <a:ext cx="609600" cy="609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>
              <a:lnSpc>
                <a:spcPts val="2800"/>
              </a:lnSpc>
            </a:pPr>
            <a:r>
              <a:rPr sz="2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3625" y="4324350"/>
            <a:ext cx="2282825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250"/>
              </a:lnSpc>
            </a:pPr>
            <a:r>
              <a:rPr sz="1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מגדירים </a:t>
            </a:r>
            <a:r>
              <a:rPr sz="1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⁦Scope⁩</a:t>
            </a:r>
            <a:r>
              <a:rPr sz="1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, תוצרים והערכת שעות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2000" y="3003550"/>
            <a:ext cx="2562225" cy="2095500"/>
          </a:xfrm>
          <a:prstGeom prst="rect">
            <a:avLst/>
          </a:prstGeom>
          <a:solidFill>
            <a:srgbClr val="2E6A69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74925" y="3181350"/>
            <a:ext cx="609600" cy="609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74925" y="3181350"/>
            <a:ext cx="609600" cy="609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>
              <a:lnSpc>
                <a:spcPts val="2800"/>
              </a:lnSpc>
            </a:pPr>
            <a:r>
              <a:rPr sz="2800" b="1">
                <a:solidFill>
                  <a:srgbClr val="2E6A69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700" y="4610100"/>
            <a:ext cx="2282825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25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יוצאים לשלב הבדיקה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2000" y="6007100"/>
            <a:ext cx="10668000" cy="6350"/>
          </a:xfrm>
          <a:prstGeom prst="rect">
            <a:avLst/>
          </a:prstGeom>
          <a:solidFill>
            <a:srgbClr val="C7C2B8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74605" y="6121400"/>
            <a:ext cx="1255395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0">
                <a:solidFill>
                  <a:srgbClr val="7B7970"/>
                </a:solidFill>
                <a:latin typeface="Arial"/>
                <a:ea typeface="Arial"/>
                <a:cs typeface="Arial"/>
              </a:rPr>
              <a:t>פגישת היכרות ומיפוי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9846" y="6121400"/>
            <a:ext cx="485854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4C4A44"/>
                </a:solidFill>
                <a:latin typeface="Arial"/>
                <a:ea typeface="Arial"/>
                <a:cs typeface="Arial"/>
              </a:rPr>
              <a:t>⁦08 / 08⁩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