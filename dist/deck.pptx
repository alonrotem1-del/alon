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66739" y="584200"/>
            <a:ext cx="1963261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69600" y="1168400"/>
            <a:ext cx="660400" cy="381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4000" y="15367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מרעיון למיזם בר־בחינה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75000" y="24892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04600" y="3086100"/>
            <a:ext cx="25400" cy="2476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6654" y="3086100"/>
            <a:ext cx="9040146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950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292600"/>
            <a:ext cx="10668000" cy="127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4099" y="4292600"/>
            <a:ext cx="3555901" cy="127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264900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B84A22"/>
          </a:solidFill>
          <a:ln w="12700">
            <a:solidFill>
              <a:srgbClr val="B8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1133" y="4546600"/>
            <a:ext cx="3318867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1133" y="477520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רעיון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512564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0433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6566" y="45466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66" y="47752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בחינה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51256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5866" y="4216400"/>
            <a:ext cx="165100" cy="165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5466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7752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החלטה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1256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12238" y="6121400"/>
            <a:ext cx="24177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85915" y="584200"/>
            <a:ext cx="1444085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נעים להכיר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7534" y="1828800"/>
            <a:ext cx="107124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תפקידי בליווי: להביא מסגרת עבודה מסודרת לבחינת ההזדמנות — מה לבדוק, באיזה סדר, ומה נדרש כדי להחליט.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0" y="2387600"/>
            <a:ext cx="1270000" cy="1270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6350" y="2393950"/>
            <a:ext cx="1257300" cy="1257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0" y="3810000"/>
            <a:ext cx="1905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אלון רותם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8806" y="4135041"/>
            <a:ext cx="2311194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B84A22"/>
                </a:solidFill>
                <a:latin typeface="Arial"/>
                <a:ea typeface="Arial"/>
                <a:cs typeface="Arial"/>
              </a:rPr>
              <a:t>יועץ אסטרטגי · מנהל ב־</a:t>
            </a:r>
            <a:r>
              <a:rPr sz="1300" b="0">
                <a:solidFill>
                  <a:srgbClr val="B8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387600"/>
            <a:ext cx="8356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616200"/>
            <a:ext cx="8356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61450" y="2961580"/>
            <a:ext cx="57150" cy="571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898080"/>
            <a:ext cx="248285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3950" y="2961580"/>
            <a:ext cx="57150" cy="571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0" y="2898080"/>
            <a:ext cx="248285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6450" y="2961580"/>
            <a:ext cx="57150" cy="571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898080"/>
            <a:ext cx="248285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450" y="3216771"/>
            <a:ext cx="57150" cy="571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0" y="3153271"/>
            <a:ext cx="248285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3950" y="3216771"/>
            <a:ext cx="57150" cy="571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3153271"/>
            <a:ext cx="248285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3817541"/>
            <a:ext cx="83566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3925491"/>
            <a:ext cx="8356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166791"/>
            <a:ext cx="8356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409281"/>
            <a:ext cx="83566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5073551"/>
            <a:ext cx="83566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5181501"/>
            <a:ext cx="8356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2600" y="5422801"/>
            <a:ext cx="101600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16196" y="5467251"/>
            <a:ext cx="11071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אלטשולר שחם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9350" y="5422801"/>
            <a:ext cx="54610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5125" y="5467251"/>
            <a:ext cx="475075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כללית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2750" y="5422801"/>
            <a:ext cx="67945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96" y="5467251"/>
            <a:ext cx="6566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ענבי טלי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3900" y="5422801"/>
            <a:ext cx="90170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9438" y="5467251"/>
            <a:ext cx="950912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מטבחי רגבה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83150" y="5422801"/>
            <a:ext cx="86360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67596" y="5467251"/>
            <a:ext cx="88390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פלסן סאסא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2900" y="5422801"/>
            <a:ext cx="67310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6654" y="5467251"/>
            <a:ext cx="64409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מבושלת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76500" y="5422801"/>
            <a:ext cx="1619250" cy="2921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65477" y="5467251"/>
            <a:ext cx="183502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אסטרטגיית דיגיטל לתמה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62430" y="6121400"/>
            <a:ext cx="176757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26278" y="584200"/>
            <a:ext cx="120372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לפני שבונים מערכת — יש כמה שאלות שצריכות לקבל תשובה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04671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0100" y="248920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0" y="24892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48920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3933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371217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60100" y="3271441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3271441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271441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437763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60100" y="382012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382012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82012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070251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043091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60100" y="448558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0000" y="448558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485580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735711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60100" y="5154315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5154315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154315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מה צריך לקרות לפני פיתוח?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404445"/>
            <a:ext cx="796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אילו משאבים, בעלוּת ואבני דרך נדרשים?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3188" y="6121400"/>
            <a:ext cx="192681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1446" y="584200"/>
            <a:ext cx="748554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המתודולוגיה: מהנחות עבודה להחלטה עסקית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9357420" y="2387600"/>
            <a:ext cx="2072580" cy="2562027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63770" y="2393950"/>
            <a:ext cx="2059880" cy="982464"/>
          </a:xfrm>
          <a:prstGeom prst="rect">
            <a:avLst/>
          </a:prstGeom>
          <a:solidFill>
            <a:srgbClr val="F6E6D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3370064"/>
            <a:ext cx="2059880" cy="6350"/>
          </a:xfrm>
          <a:prstGeom prst="rect">
            <a:avLst/>
          </a:prstGeom>
          <a:solidFill>
            <a:srgbClr val="EBD3C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28659" y="248285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95334" y="255905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1823" y="2870200"/>
            <a:ext cx="107915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001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9970" y="34780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7268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9756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422453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נכונות לשלם וצמיחה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49877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8540" y="2387600"/>
            <a:ext cx="2072680" cy="2562027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14890" y="2393950"/>
            <a:ext cx="2059980" cy="982464"/>
          </a:xfrm>
          <a:prstGeom prst="rect">
            <a:avLst/>
          </a:prstGeom>
          <a:solidFill>
            <a:srgbClr val="F6E6D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3370064"/>
            <a:ext cx="2059980" cy="6350"/>
          </a:xfrm>
          <a:prstGeom prst="rect">
            <a:avLst/>
          </a:prstGeom>
          <a:solidFill>
            <a:srgbClr val="EBD3C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9780" y="248285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0105" y="255905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6804" y="2870200"/>
            <a:ext cx="10203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109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47801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מיפוי שוק וגודלו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72685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97569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422453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59759" y="2387600"/>
            <a:ext cx="2072580" cy="2562027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66109" y="2393950"/>
            <a:ext cx="2059880" cy="982464"/>
          </a:xfrm>
          <a:prstGeom prst="rect">
            <a:avLst/>
          </a:prstGeom>
          <a:solidFill>
            <a:srgbClr val="F6E6D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66109" y="3370064"/>
            <a:ext cx="2059880" cy="6350"/>
          </a:xfrm>
          <a:prstGeom prst="rect">
            <a:avLst/>
          </a:prstGeom>
          <a:solidFill>
            <a:srgbClr val="EBD3C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30999" y="248285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91324" y="255905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171" y="2870200"/>
            <a:ext cx="50107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4235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2309" y="34780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לקוח יעד מוגדר (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⁦ICP⁩</a:t>
            </a: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09" y="37268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9756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422453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10880" y="2387600"/>
            <a:ext cx="2072680" cy="2562027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17230" y="2393950"/>
            <a:ext cx="2059980" cy="982464"/>
          </a:xfrm>
          <a:prstGeom prst="rect">
            <a:avLst/>
          </a:prstGeom>
          <a:solidFill>
            <a:srgbClr val="F1F1E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17230" y="3370064"/>
            <a:ext cx="205998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782120" y="248285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2445" y="255905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7C8489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2201" y="2870200"/>
            <a:ext cx="42940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9343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3430" y="347801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שוק נגיש ותמחור אפשרי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3430" y="372685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הנחות אימוץ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97569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422453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2099" y="2387600"/>
            <a:ext cx="2072580" cy="2562027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8449" y="2393950"/>
            <a:ext cx="2059880" cy="982464"/>
          </a:xfrm>
          <a:prstGeom prst="rect">
            <a:avLst/>
          </a:prstGeom>
          <a:solidFill>
            <a:srgbClr val="F1F1E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8449" y="3370064"/>
            <a:ext cx="205988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633339" y="248285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C9C6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93664" y="255905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7C8489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25138" y="2870200"/>
            <a:ext cx="58920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090" y="309245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4649" y="34780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4649" y="37268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649" y="39756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649" y="422453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59759" y="5359400"/>
            <a:ext cx="6370241" cy="1270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03000" y="5461000"/>
            <a:ext cx="19304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20"/>
              </a:lnSpc>
            </a:pPr>
            <a:r>
              <a:rPr sz="12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86293" y="5461000"/>
            <a:ext cx="6327807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2099" y="5359400"/>
            <a:ext cx="4221460" cy="1270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31730" y="5461000"/>
            <a:ext cx="351830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14280" y="5505450"/>
            <a:ext cx="2891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38290" y="5461000"/>
            <a:ext cx="642640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20840" y="5505450"/>
            <a:ext cx="6711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93380" y="5461000"/>
            <a:ext cx="494109" cy="254000"/>
          </a:xfrm>
          <a:prstGeom prst="rect">
            <a:avLst/>
          </a:prstGeom>
          <a:solidFill>
            <a:srgbClr val="F1F1EE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75930" y="5505450"/>
            <a:ext cx="46974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-57384" y="5502275"/>
            <a:ext cx="3323765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75098" y="6121400"/>
            <a:ext cx="17549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8737" y="584200"/>
            <a:ext cx="109126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שתי דרכים לבחון את ההזדמנות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76371" y="1828800"/>
            <a:ext cx="9353629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אותה מסגרת אסטרטגית. ההבדל הוא מי מבצע את המחקר — ומכאן עומק הראיות ומידת עצמאותן.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7600" y="2387600"/>
            <a:ext cx="5232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7600" y="2387600"/>
            <a:ext cx="5232400" cy="25400"/>
          </a:xfrm>
          <a:prstGeom prst="rect">
            <a:avLst/>
          </a:prstGeom>
          <a:solidFill>
            <a:srgbClr val="41586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7600" y="5708650"/>
            <a:ext cx="52324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760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2365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7150" y="2552700"/>
            <a:ext cx="48133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7150" y="3345061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7150" y="2832100"/>
            <a:ext cx="48133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אלון מוביל את המתודולוגיה, המסגרות, הניתוח והמודל הכלכלי; בן ואופק משלימים משימות בין המפגשים.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150" y="3465711"/>
            <a:ext cx="48133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150" y="3668911"/>
            <a:ext cx="48133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מתודולוגיה ומסגרות עבודה · אתגור הנחות · ניתוח ממצאים · מודל כלכלי · סינתזה ומסקנות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150" y="4169172"/>
            <a:ext cx="48133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150" y="4372372"/>
            <a:ext cx="48133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נתונים פנימיים · מידע על השוק · חלק מהשיחות עם לקוחות · משימות תיקוף בין המפגשים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7150" y="4928989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61650" y="5011539"/>
            <a:ext cx="558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4394B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0604" y="50115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7150" y="5293420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650" y="5375970"/>
            <a:ext cx="558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150" y="5375970"/>
            <a:ext cx="415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רמת התיקוף החיצוני והעצמאי נמוכה יותר.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2387600"/>
            <a:ext cx="5232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32400" cy="25400"/>
          </a:xfrm>
          <a:prstGeom prst="rect">
            <a:avLst/>
          </a:prstGeom>
          <a:solidFill>
            <a:srgbClr val="41586C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5708650"/>
            <a:ext cx="52324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88050" y="2387600"/>
            <a:ext cx="6350" cy="332740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1550" y="2552700"/>
            <a:ext cx="48133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1550" y="3345061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" y="2832100"/>
            <a:ext cx="48133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אלון מוביל את המחקר והניתוח מקצה לקצה — עיצוב המחקר, עבודת השטח והראיונות מול לקוחות ומומחים.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550" y="3465711"/>
            <a:ext cx="48133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550" y="3668911"/>
            <a:ext cx="48133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מיפוי שוק · ניתוח חלופות ומתחרים · עיצוב המחקר · ראיונות עומק · סינתזת ראיות · מודל כלכלי · מפת דרכים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" y="4169172"/>
            <a:ext cx="48133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550" y="4372372"/>
            <a:ext cx="48133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גישה ונתונים פנימיים · הקשר ענפי · הפניות · שותפות בהחלטות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1550" y="4928989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26050" y="5011539"/>
            <a:ext cx="558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4394B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" y="5011539"/>
            <a:ext cx="415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רמת עומק, עצמאות ואיכות ראיות גבוהה יותר.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1550" y="5293420"/>
            <a:ext cx="48133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26050" y="5375970"/>
            <a:ext cx="558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550" y="5375970"/>
            <a:ext cx="41529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92" y="6121400"/>
            <a:ext cx="2962608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31811" y="584200"/>
            <a:ext cx="498189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לדיון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מה חשוב שנבין היום?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חמש שאלות שיקבעו את מטרת העבודה ואת רמת הבדיקה המתאימה.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04671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0100" y="2609155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602805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בדיוק במצב הקיים גרם לכם לומר: "צריך לבנות לזה פתרון אחר"?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71217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60100" y="3274616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268266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למי אתם חושבים שהמוצר הראשון מיועד — ומה גורם לכם לחשוב שזה הלקוח הנכון?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377630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60100" y="3940076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933726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כבר עשיתם עד היום: אפיון, שיחות עם לקוחות, נתונים, הצעות פיתוח או בדיקות אחרות?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5043091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60100" y="4605536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599186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אתם רוצים שהמיזם הזה יהיה בעוד 3–5 שנים — ומה מבחינתכם ייחשב הצלחה?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60100" y="5274270"/>
            <a:ext cx="4699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750"/>
              </a:lnSpc>
            </a:pPr>
            <a:r>
              <a:rPr sz="1400" b="1">
                <a:solidFill>
                  <a:srgbClr val="C6C9C6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5267920"/>
            <a:ext cx="10033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מה הייתם רוצים לדעת בסוף תהליך הבדיקה כדי להרגיש בנוח לקבל החלטה על ההשקעה הבאה?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0598" y="6121400"/>
            <a:ext cx="13094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06498" y="584200"/>
            <a:ext cx="122350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מסגרת התקשרות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תמחור שעתי שקוף. היקף העבודה נגזר מהמסלול שנבחר ומחלוקת המשימות בין הצדדים.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387600"/>
            <a:ext cx="10668000" cy="652760"/>
          </a:xfrm>
          <a:prstGeom prst="rect">
            <a:avLst/>
          </a:prstGeom>
          <a:solidFill>
            <a:srgbClr val="132433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45759" y="2654300"/>
            <a:ext cx="55564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3716" y="2565400"/>
            <a:ext cx="2727134" cy="29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340"/>
              </a:lnSpc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⁦450⁩</a:t>
            </a: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₪ + מע"מ לשעת ייעוץ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808" y="2622550"/>
            <a:ext cx="2122392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התעריף זהה בשני המסלולים.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7600" y="3218160"/>
            <a:ext cx="5232400" cy="1842195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94450" y="3713460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4450" y="3389610"/>
            <a:ext cx="48387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4450" y="3834110"/>
            <a:ext cx="48387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4450" y="4050010"/>
            <a:ext cx="48387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כ־</a:t>
            </a: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⁦20–40⁩</a:t>
            </a: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 שעות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4450" y="4683224"/>
            <a:ext cx="4838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3218160"/>
            <a:ext cx="5232400" cy="1842195"/>
          </a:xfrm>
          <a:prstGeom prst="rect">
            <a:avLst/>
          </a:prstGeom>
          <a:solidFill>
            <a:srgbClr val="FFFFFF"/>
          </a:solidFill>
          <a:ln w="6350">
            <a:solidFill>
              <a:srgbClr val="E1E2DF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8850" y="3713460"/>
            <a:ext cx="48387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850" y="3389610"/>
            <a:ext cx="48387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850" y="3834110"/>
            <a:ext cx="48387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C8489"/>
                </a:solidFill>
                <a:latin typeface="Arial"/>
                <a:ea typeface="Arial"/>
                <a:cs typeface="Arial"/>
              </a:rPr>
              <a:t>היקף ועלות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850" y="4050010"/>
            <a:ext cx="48387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ייקבעו לאחר פגישת המיפוי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850" y="4477544"/>
            <a:ext cx="48387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 לא ניתן להעריך זאת לפני מיפוי.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238155"/>
            <a:ext cx="10668000" cy="476845"/>
          </a:xfrm>
          <a:prstGeom prst="rect">
            <a:avLst/>
          </a:prstGeom>
          <a:solidFill>
            <a:srgbClr val="F6E6D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04600" y="5238155"/>
            <a:ext cx="25400" cy="476845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100" y="5365155"/>
            <a:ext cx="103124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32433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14509" y="6121400"/>
            <a:ext cx="291549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תעריף שעתי · היקף ייקבע לאחר פגישת המיפוי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51046" y="584200"/>
            <a:ext cx="1278954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B84A22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8636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32433"/>
                </a:solidFill>
                <a:latin typeface="Times New Roman"/>
                <a:ea typeface="Times New Roman"/>
                <a:cs typeface="Times New Roman"/>
              </a:rPr>
              <a:t>איך מתקדמים מכאן?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ארבעה צעדים קצרים — בלי התחייבות בפגישה עצמה.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8905875" y="3121422"/>
            <a:ext cx="2524125" cy="190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05875" y="3280172"/>
            <a:ext cx="252412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800"/>
              </a:lnSpc>
            </a:pP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5875" y="3597672"/>
            <a:ext cx="2524125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05875" y="3908822"/>
            <a:ext cx="2524125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מה צריך להיות ידוע בסוף התהליך.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1250" y="3121422"/>
            <a:ext cx="2524125" cy="190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1250" y="3280172"/>
            <a:ext cx="252412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800"/>
              </a:lnSpc>
            </a:pP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0" y="3597672"/>
            <a:ext cx="2524125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בוחרים את מודל העבודה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1250" y="3908822"/>
            <a:ext cx="2524125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מונחה או מחקר מלא, לפי עומק התיקוף הנדרש.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6625" y="3121422"/>
            <a:ext cx="2524125" cy="190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6625" y="3280172"/>
            <a:ext cx="252412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800"/>
              </a:lnSpc>
            </a:pP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6625" y="3597672"/>
            <a:ext cx="2524125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 והערכת שעות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6625" y="3908822"/>
            <a:ext cx="2524125" cy="205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תוצרים, חלוקת משימות ולוח זמנים.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3121422"/>
            <a:ext cx="2524125" cy="19050"/>
          </a:xfrm>
          <a:prstGeom prst="rect">
            <a:avLst/>
          </a:prstGeom>
          <a:solidFill>
            <a:srgbClr val="B8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3280172"/>
            <a:ext cx="252412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0">
              <a:lnSpc>
                <a:spcPts val="1800"/>
              </a:lnSpc>
            </a:pPr>
            <a:r>
              <a:rPr sz="1800" b="1">
                <a:solidFill>
                  <a:srgbClr val="B84A22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597672"/>
            <a:ext cx="2524125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32433"/>
                </a:solidFill>
                <a:latin typeface="Arial"/>
                <a:ea typeface="Arial"/>
                <a:cs typeface="Arial"/>
              </a:rPr>
              <a:t>יוצאים לשלב הבדיקה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908822"/>
            <a:ext cx="2524125" cy="205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A555D"/>
                </a:solidFill>
                <a:latin typeface="Arial"/>
                <a:ea typeface="Arial"/>
                <a:cs typeface="Arial"/>
              </a:rPr>
              <a:t>עבודה מול אבני דרך ושערי החלטה.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612283"/>
            <a:ext cx="10668000" cy="6350"/>
          </a:xfrm>
          <a:prstGeom prst="rect">
            <a:avLst/>
          </a:prstGeom>
          <a:solidFill>
            <a:srgbClr val="E1E2D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4758333"/>
            <a:ext cx="106680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24394B"/>
                </a:solidFill>
                <a:latin typeface="Arial"/>
                <a:ea typeface="Arial"/>
                <a:cs typeface="Arial"/>
              </a:rPr>
              <a:t>גם אם תחליטו שלא להמשיך — הפגישה עצמה אמורה להשאיר בידיכם מיפוי ברור יותר של השאלות שדורשות תשובה.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6C9C6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5609" y="6121400"/>
            <a:ext cx="211439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C8489"/>
                </a:solidFill>
                <a:latin typeface="Arial"/>
                <a:ea typeface="Arial"/>
                <a:cs typeface="Arial"/>
              </a:rPr>
              <a:t>אין החלטה נדרשת בפגישה עצמה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A555D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