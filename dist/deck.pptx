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58800" cy="406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64000"/>
            <a:ext cx="558800" cy="279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69500" y="508000"/>
            <a:ext cx="14605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40754" y="552450"/>
            <a:ext cx="1487646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1270000"/>
            <a:ext cx="9906000" cy="636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5016"/>
              </a:lnSpc>
            </a:pPr>
            <a:r>
              <a:rPr sz="4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מרעיון למיזם בר־בחינה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5000" y="2184400"/>
            <a:ext cx="8255000" cy="284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4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בחינת ההזדמנות, תיקוף ההנחות והגדרת הדרך קדימה</a:t>
            </a:r>
          </a:p>
        </p:txBody>
      </p:sp>
      <p:sp>
        <p:nvSpPr>
          <p:cNvPr id="8" name="Rectangle 7"/>
          <p:cNvSpPr/>
          <p:nvPr/>
        </p:nvSpPr>
        <p:spPr>
          <a:xfrm>
            <a:off x="1524000" y="2717800"/>
            <a:ext cx="9906000" cy="114677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98250" y="2717800"/>
            <a:ext cx="31750" cy="114677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27200" y="2882900"/>
            <a:ext cx="94678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מטרת התהליך: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7200" y="3117850"/>
            <a:ext cx="9467850" cy="5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40"/>
              </a:lnSpc>
            </a:pPr>
            <a:r>
              <a:rPr sz="16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להבין האם קיימת הזדמנות עסקית אמיתית, עבור מי ובאילו תנאים היא יכולה להיות כדאית, ורק אז להחליט אם ואיך להתקדם לפיתוח.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1133" y="4559300"/>
            <a:ext cx="3318867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1133" y="4749800"/>
            <a:ext cx="3318867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רעיון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1133" y="5100241"/>
            <a:ext cx="3318867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ניסיון ענפי והנחות עבודה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6566" y="4559300"/>
            <a:ext cx="3318966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6566" y="474980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בחינה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6566" y="510024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תיקוף מול שוק, לקוחות וכלכלה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0" y="4559300"/>
            <a:ext cx="3318966" cy="38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474980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החלטה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510024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מבוססת ראיות, עם תוכנית פעולה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1805" y="6121400"/>
            <a:ext cx="23181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אלון רותם · בן · אופק · ספטמבר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⁦01 / 08⁩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25100" y="508000"/>
            <a:ext cx="11049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09800" y="552450"/>
            <a:ext cx="11186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מי מלווה אתכם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נעים להכיר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0" y="2387600"/>
            <a:ext cx="1905000" cy="332740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25000" y="2387600"/>
            <a:ext cx="1905000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77400" y="2578100"/>
            <a:ext cx="1600200" cy="177800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400" y="2578100"/>
            <a:ext cx="1600200" cy="177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77400" y="4495800"/>
            <a:ext cx="16002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רותם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77400" y="482084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יועץ אסטרטגי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400" y="502652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מנהל ב־</a:t>
            </a: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⁦BDO⁩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5050" y="2387600"/>
            <a:ext cx="488950" cy="25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464" y="2419350"/>
            <a:ext cx="38028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ניסיון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730500"/>
            <a:ext cx="83820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כ־10 שנים בפרויקטים אסטרטגיים מקומיים ובינלאומיים: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6850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3966" y="301238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אסטרטגיית צמיחה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0916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8033" y="301238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בדיקות כדאיות וכניסה לשווקים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4983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3012380"/>
            <a:ext cx="2491383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מודלים עסקיים וכלכליים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6850" y="333107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3966" y="326757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אסטרטגיה דיגיטלית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0916" y="333107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8033" y="326757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תרגום תובנות לתוכנית פעולה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3450" y="3822005"/>
            <a:ext cx="590550" cy="25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6781" y="3853755"/>
            <a:ext cx="511969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השכלה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4164905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⁦M.B.A⁩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— אוניברסיטת תל אביב, בהצטיינות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407396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מנהל עסקים — המרכז הבינתחומי הרצליה, בהצטיינות יתרה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7350" y="4961830"/>
            <a:ext cx="1136650" cy="254000"/>
          </a:xfrm>
          <a:prstGeom prst="rect">
            <a:avLst/>
          </a:prstGeom>
          <a:solidFill>
            <a:srgbClr val="22384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89923" y="4993580"/>
            <a:ext cx="115882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פרויקטים לדוגמה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5304730"/>
            <a:ext cx="8382000" cy="4101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12250" y="5304730"/>
            <a:ext cx="31750" cy="41017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1700" y="5399980"/>
            <a:ext cx="8070850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אלטשולר שחם · כללית · ענבי טלי · מטבחי רגבה · פלסן סאסא · מבושלת · אסטרטגיית דיגיטל לתמה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6328" y="6121400"/>
            <a:ext cx="169367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רקע מקצועי · התפקיד בליווי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⁦02 / 08⁩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90200" y="508000"/>
            <a:ext cx="9398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0046" y="552450"/>
            <a:ext cx="928354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מסגרת הדיון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176" y="901700"/>
            <a:ext cx="10908824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לפני שבונים מערכת — יש כמה שאלות שצריכות לקבל תשובה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אלה לא מסקנות. אלה התחומים שהתהליך אמור לתת עליהם תשובה מבוססת.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4200" y="238760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67800" y="251777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שוק ולקוח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53047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הלקוח הראשון האמיתי —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עצמאי, חברת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⁦DJs⁩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, או סגמנט אחר?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78060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כמה גדול ונגיש השוק הרלוונטי?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7800" y="3271441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הבעיה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284141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איזו בעיה כואבת ותכופה מספיק כדי להצדיק מעבר לפתרון חדש?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371852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7800" y="384869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מוצר ובידול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86139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המוצר הראשון באמת צריך לפתור?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11152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מדוע יהיה עדיף על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⁦iPlan⁩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או על החלופות הקיימות?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7800" y="451415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כלכלה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452685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משלם, וכמה ריאלי שישלם?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77698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איזה היקף פעילות נדרש כדי שזה יהיה עסק אטרקטיבי?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7800" y="517971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דרך לביצוע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519241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צריך להיות סגור לפני שמתחילים לפתח?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544254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מוביל, מהי חלוקת התפקידים, אילו משאבים נדרשים ומהן אבני הדרך הנדרשות?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74308" y="6121400"/>
            <a:ext cx="185569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תחומים לתיקוף — לא מסקנות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⁦03 / 08⁩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769600" y="508000"/>
            <a:ext cx="6604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30087" y="552450"/>
            <a:ext cx="59831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המתודולוגיה: מהנחות עבודה להחלטה עסקית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0005" y="1828800"/>
            <a:ext cx="8719995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התהליך אינו ליניארי — ממצאים מהשוק חוזרים ומחדדים את ההנחות ואת הגדרת ההזדמנות.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9357420" y="2387600"/>
            <a:ext cx="20725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63770" y="2393950"/>
            <a:ext cx="20598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63770" y="335736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22865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9215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8010" y="2851150"/>
            <a:ext cx="8913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נקודת המוצא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4001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הנחות עבודה ראשוניות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9970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לקוח יעד ובעיה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9970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תהליך העבודה כיום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9970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רעיון המוצר והחלופות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9970" y="4154686"/>
            <a:ext cx="1907480" cy="396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לגבי תמחור ופוטנציאל צמיחה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9970" y="4614267"/>
            <a:ext cx="190748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מנוסחות מהידע הענפי שלכם — כהנחות, לא כמסקנות.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8540" y="2387600"/>
            <a:ext cx="20726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14890" y="2393950"/>
            <a:ext cx="20599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14890" y="3357364"/>
            <a:ext cx="20599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7978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3280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5690" y="2851150"/>
            <a:ext cx="83256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איסוף ראיות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109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בדיקת השוק והלקוחות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1090" y="344626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מיפוי וגודל השוק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1090" y="3682405"/>
            <a:ext cx="1907580" cy="396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סגמנטציה ראשונית של הלקוחות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1090" y="411658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ראיונות לקוחות ומומחים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1090" y="4352727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ניתוח חלופות ומתחרים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1090" y="4588867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חסמי מעבר ונכונות לשלם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59759" y="2387600"/>
            <a:ext cx="20725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6109" y="2393950"/>
            <a:ext cx="20598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66109" y="335736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3099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9449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39115" y="2851150"/>
            <a:ext cx="41573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מיקוד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4235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חידוד ההזדמנות והמוצר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42309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בחירת סגמנט היעד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2309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הגדרת הלקוח הראשוני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2309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הבעיה המרכזית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2309" y="415468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הצעת הערך והבידול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42309" y="4390827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גבולות המוצר הראשון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10880" y="2387600"/>
            <a:ext cx="20726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17230" y="2393950"/>
            <a:ext cx="2059980" cy="133806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17230" y="3725664"/>
            <a:ext cx="20599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78212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5620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16222" y="2851150"/>
            <a:ext cx="36117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מודל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9343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בחינת הכדאיות הכלכלית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93430" y="3331964"/>
            <a:ext cx="190758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3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תרגום ממצאי השוק והגדרת המוצר למודל כלכלי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93430" y="381456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גודל קהל היעד הרלוונטי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28636" y="4050705"/>
            <a:ext cx="197237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תמחור והכנסה פוטנציאלית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3430" y="428684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חדירה ואימוץ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93430" y="452298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עלויות פיתוח ותפעול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93430" y="4759127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תרחישים ורגישויות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2099" y="2387600"/>
            <a:ext cx="20725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8449" y="2393950"/>
            <a:ext cx="2059880" cy="96976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68449" y="3357364"/>
            <a:ext cx="20598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63333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9683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81907" y="2851150"/>
            <a:ext cx="50385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מסקנה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1090" y="3092450"/>
            <a:ext cx="1894697" cy="201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החלטה ותוכנית פעולה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4649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אבני דרך ושערי החלטה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4649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שלבי בדיקה ופיתוח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4649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דרך ראשונית לשוק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4649" y="415468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אחריות וצעדים הבאים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59759" y="5187950"/>
            <a:ext cx="6370241" cy="52705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59759" y="5187950"/>
            <a:ext cx="6370241" cy="254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156950" y="5289550"/>
            <a:ext cx="214376" cy="2043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61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1809" y="5289550"/>
            <a:ext cx="6116241" cy="411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שלבים 1–3 מחזוריים: ראיות מהשוק מחזירות אותנו לחדד את ההנחות ואת הגדרת המוצר.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2099" y="5187950"/>
            <a:ext cx="4221460" cy="527050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62099" y="5187950"/>
            <a:ext cx="4221460" cy="254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98380" y="5324475"/>
            <a:ext cx="358180" cy="2730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80930" y="5368925"/>
            <a:ext cx="28916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766840" y="5324475"/>
            <a:ext cx="68074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49390" y="5368925"/>
            <a:ext cx="6711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ADJUST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96530" y="5324475"/>
            <a:ext cx="519509" cy="27305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79080" y="5368925"/>
            <a:ext cx="469741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9099" y="5289550"/>
            <a:ext cx="2180431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שלב 5 נפתח באחת משלוש התוצאות — כולן לגיטימיות.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746218" y="6121400"/>
            <a:ext cx="168378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תהליך מחזורי — לא ליניארי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⁦04 / 08⁩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553700" y="508000"/>
            <a:ext cx="8763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87501" y="552450"/>
            <a:ext cx="840899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דרכי עבודה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שתי דרכים לבחון את ההזדמנות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אותה מסגרת אסטרטגית - מודל עבודה שונה.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49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1250" y="2393950"/>
            <a:ext cx="5232400" cy="419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90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9050" y="3427611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9050" y="2927350"/>
            <a:ext cx="48768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אני מוביל את התהליך המקצועי והניתוח; בן ואופק משלימים חלק מאיסוף המידע והבדיקות בין המפגשים.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63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אני מוביל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63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הגדרת מה צריך לבדוק ואיך · אתגור ההנחות · ניתוח הממצאים · בניית המודל הכלכלי · סינתזה ומסקנות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90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משלימים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90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נתונים פנימיים · איסוף מידע מהשוק · בדיקות שטח בהתאם להנחיות · משימות בין המפגשים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9050" y="4476452"/>
            <a:ext cx="4876800" cy="35173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20450" y="4476452"/>
            <a:ext cx="25400" cy="35173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350" y="4546302"/>
            <a:ext cx="4622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אם יעלה צורך, גם ראיונות עומק בשוק יבוצעו בהשתתפותי.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90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6250" y="5049639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5204" y="5036939"/>
            <a:ext cx="4329446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תהליך חסכוני ומהיר יותר, הנשען על היכרות קיימת עם הענף.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90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36250" y="5401370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90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היקף התיקוף החיצוני מצומצם יותר.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8350" y="2393950"/>
            <a:ext cx="5232400" cy="419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1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6150" y="3221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150" y="2927350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אני מוביל את המחקר והניתוח מקצה לקצה.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3450" y="3329880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אני מוביל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3450" y="3564830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מחקר השוק · ניתוח חלופות ומתחרים · ראיונות עומק · ניתוח וסינתזה · בניית המודל הכלכלי · מפת דרכים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3329880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מספקים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3564830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מידע ונתונים פנימיים · היכרות עם הענף · הפניות לאנשים רלוונטיים · שותפות בהחלטות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1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3350" y="5049639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150" y="5036939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רמת עומק ואיכות ראיות גבוהה יותר.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1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3350" y="5401370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61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היקף עבודה גדול יותר, ולכן גם לוח זמנים ארוך יותר.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78405" y="6121400"/>
            <a:ext cx="28515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אותה מסגרת אסטרטגית · הבדל בעומק התיקוף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⁦05 / 08⁩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80650" y="508000"/>
            <a:ext cx="11493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35902" y="552450"/>
            <a:ext cx="1192498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התאמת התהליך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כדי לדייק את התהליך, חשוב להבין עוד כמה דברים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השאלות הבאות יעזרו להתאים את עומק הבדיקה, חלוקת העבודה והיקף התהליך.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4400" y="2542480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7100" y="255518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50725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כבר עשיתם עד היום ומה כבר קיים?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761853"/>
            <a:ext cx="10134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אפיון, נתונים, שיחות עם לקוחות, הצעות פיתוח או בדיקות אחרות.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74400" y="320794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87100" y="322064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27431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אתם רוצים שהמיזם הזה יהיה בעוד 3–5 שנים?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74400" y="387340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87100" y="388610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83817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איזו החלטה אתם רוצים להיות מסוגלים לקבל בסוף התהליך?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4092773"/>
            <a:ext cx="10134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למשל: האם לפתח? מה לפתח? כמה להשקיע? האם השוק מספיק גדול? האם להתמקד ב-</a:t>
            </a: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⁦DJs⁩</a:t>
            </a: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 או לבחון התרחבות?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074400" y="453886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87100" y="455156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50363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כמה מהעבודה אתם רוצים ויכולים לקחת על עצמכם?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758234"/>
            <a:ext cx="10134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איסוף מידע, השלמת נתונים, בדיקות בשוק ומשימות בין המפגשים.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074400" y="520442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B44A22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87100" y="521712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516919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האם יש החלטה או לוח זמנים שכבר עומדים על הפרק?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5423793"/>
            <a:ext cx="10134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למשל הצעת פיתוח שמחכה להחלטה, תקציב, שותף או תאריך יעד.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28338" y="6121400"/>
            <a:ext cx="250166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מתאים את עומק הבדיקה וחלוקת העבודה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⁦06 / 08⁩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58450" y="508000"/>
            <a:ext cx="9715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0377" y="552450"/>
            <a:ext cx="94802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תעריף והיקף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מסגרת התקשרות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התעריף זהה בשני המסלולים; היקף העבודה נגזר מאופי התהליך ומחלוקת המשימות.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387600"/>
            <a:ext cx="10668000" cy="80893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8027" y="2774950"/>
            <a:ext cx="45607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9D2CE"/>
                </a:solidFill>
                <a:latin typeface="Arial"/>
                <a:ea typeface="Arial"/>
                <a:cs typeface="Arial"/>
              </a:rPr>
              <a:t>תעריף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3150" y="2552700"/>
            <a:ext cx="857790" cy="4533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357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428" y="2724150"/>
            <a:ext cx="226822" cy="26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3032" y="2724150"/>
            <a:ext cx="727218" cy="26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E6C5B2"/>
                </a:solidFill>
                <a:latin typeface="Arial"/>
                <a:ea typeface="Arial"/>
                <a:cs typeface="Arial"/>
              </a:rPr>
              <a:t>+ מע"מ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714" y="2736850"/>
            <a:ext cx="913686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לשעת ייעוץ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4900" y="3361630"/>
            <a:ext cx="5245100" cy="17685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4900" y="3361630"/>
            <a:ext cx="5245100" cy="317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49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490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2365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69050" y="3856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9050" y="354578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9050" y="3964880"/>
            <a:ext cx="48768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ראשוני משוער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9050" y="4187130"/>
            <a:ext cx="48768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כ־</a:t>
            </a: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⁦20–40⁩</a:t>
            </a: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 שעות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90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טווח אינדיקטיבי בלבד — תלוי בהגדרת ההיקף ובחלוקת המשימות.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3361630"/>
            <a:ext cx="5245100" cy="17685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3361630"/>
            <a:ext cx="5245100" cy="317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0075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150" y="3856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150" y="354578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150" y="3964880"/>
            <a:ext cx="48768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העבודה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150" y="418713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יוגדר לאחר פגישת ההיכרות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בהתאם לעומק המחקר, מספר הסגמנטים והיקף עבודת השטח.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2000" y="5295305"/>
            <a:ext cx="10668000" cy="419695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98250" y="5295305"/>
            <a:ext cx="31750" cy="419695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7100" y="5390555"/>
            <a:ext cx="1030605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לאחר הפגישה ניתן יהיה לגבש 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, הערכת שעות והצעת עבודה מסודרת.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13397" y="6121400"/>
            <a:ext cx="291660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תעריף שעתי · היקף ייקבע לאחר פגישת ההיכרות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⁦07 / 08⁩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20350" y="508000"/>
            <a:ext cx="10096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24814" y="552450"/>
            <a:ext cx="1003586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צעדים הבאים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איך מתקדמים מכאן?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ארבעה צעדים קצרים מכאן והלאה.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777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747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מחדדים את מטרת העבודה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5850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5550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בוחרים את מודל העבודה המתאים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392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362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מגדירים 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, תוצרים והערכת שעות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0" y="3003550"/>
            <a:ext cx="2562225" cy="20955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4610100"/>
            <a:ext cx="228282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יוצאים לדרך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74605" y="6121400"/>
            <a:ext cx="12553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⁦08 / 08⁩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