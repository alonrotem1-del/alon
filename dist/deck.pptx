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66739" y="584200"/>
            <a:ext cx="1963261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69600" y="1168400"/>
            <a:ext cx="660400" cy="381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4000" y="15367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מרעיון למיזם בר־בחינה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75000" y="24892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04600" y="3086100"/>
            <a:ext cx="25400" cy="2476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6654" y="3086100"/>
            <a:ext cx="9040146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50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המטרה היא לא להחליט היום אם לפתח — אלא להבין מה צריך להיות נכון כדי שהמיזם יהיה כדאי, ואיך נכון לבדוק זאת.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292600"/>
            <a:ext cx="10668000" cy="127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4099" y="4292600"/>
            <a:ext cx="3555901" cy="127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264900" y="4216400"/>
            <a:ext cx="165100" cy="165100"/>
          </a:xfrm>
          <a:prstGeom prst="roundRect">
            <a:avLst>
              <a:gd name="adj" fmla="val 50000"/>
            </a:avLst>
          </a:prstGeom>
          <a:solidFill>
            <a:srgbClr val="B84A22"/>
          </a:solidFill>
          <a:ln w="12700">
            <a:solidFill>
              <a:srgbClr val="B8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1133" y="4546600"/>
            <a:ext cx="3318867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היום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1133" y="477520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רעיון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1133" y="512564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0433" y="4216400"/>
            <a:ext cx="165100" cy="165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C9C6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6566" y="4546600"/>
            <a:ext cx="33189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66" y="47752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בחינה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51256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5866" y="4216400"/>
            <a:ext cx="165100" cy="165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C9C6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546600"/>
            <a:ext cx="33189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התוצר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7752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החלטה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1256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12238" y="6121400"/>
            <a:ext cx="24177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⁦01 / 06⁩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85915" y="584200"/>
            <a:ext cx="1444085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נעים להכיר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אלון רותם — יועץ אסטרטגי | מנהל ב-BDO</a:t>
            </a:r>
          </a:p>
        </p:txBody>
      </p:sp>
      <p:sp>
        <p:nvSpPr>
          <p:cNvPr id="5" name="Rectangle 4"/>
          <p:cNvSpPr/>
          <p:nvPr/>
        </p:nvSpPr>
        <p:spPr>
          <a:xfrm>
            <a:off x="9461500" y="2387600"/>
            <a:ext cx="1968500" cy="2667000"/>
          </a:xfrm>
          <a:prstGeom prst="rect">
            <a:avLst/>
          </a:prstGeom>
          <a:solidFill>
            <a:srgbClr val="F1F1E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1500" y="2387600"/>
            <a:ext cx="19685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2387600"/>
            <a:ext cx="82423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תחומי עיסוק</a:t>
            </a:r>
          </a:p>
        </p:txBody>
      </p:sp>
      <p:sp>
        <p:nvSpPr>
          <p:cNvPr id="8" name="Rectangle 7"/>
          <p:cNvSpPr/>
          <p:nvPr/>
        </p:nvSpPr>
        <p:spPr>
          <a:xfrm>
            <a:off x="8940800" y="2736850"/>
            <a:ext cx="63500" cy="635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667000"/>
            <a:ext cx="80518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בחינת הזדמנויות עסקיות ומהלכי צמיחה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40800" y="3061295"/>
            <a:ext cx="63500" cy="635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991445"/>
            <a:ext cx="80518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ניתוחי שוק וכדאיות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40800" y="3385741"/>
            <a:ext cx="63500" cy="635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315891"/>
            <a:ext cx="80518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0800" y="3710186"/>
            <a:ext cx="63500" cy="635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3640336"/>
            <a:ext cx="80518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תרגום שאלות אסטרטגיות לתוכנית פעולה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838700"/>
            <a:ext cx="8242300" cy="876300"/>
          </a:xfrm>
          <a:prstGeom prst="rect">
            <a:avLst/>
          </a:prstGeom>
          <a:solidFill>
            <a:srgbClr val="132433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900" y="5029200"/>
            <a:ext cx="78105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50"/>
              </a:lnSpc>
            </a:pPr>
            <a:r>
              <a:rPr sz="1300" b="0">
                <a:solidFill>
                  <a:srgbClr val="F3F5F6"/>
                </a:solidFill>
                <a:latin typeface="Arial"/>
                <a:ea typeface="Arial"/>
                <a:cs typeface="Arial"/>
              </a:rPr>
              <a:t>אתם מביאים את ההיכרות העמוקה עם הענף והשטח; התפקיד שלי הוא להוסיף מסגרת אסטרטגית, בדיקה שיטתית ונקודת מבט חיצונית וביקורתית.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8226" y="6121400"/>
            <a:ext cx="1621774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רקע מקצועי ותפקיד בליווי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⁦02 / 06⁩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26278" y="584200"/>
            <a:ext cx="120372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לפני שבונים מערכת — יש כמה שאלות שצריכות לקבל תשובה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957711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0100" y="2387600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000" y="23876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38760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מי הלקוח הראשון האמיתי — DJ עצמאי, חברת DJs, או סגמנט אחר?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63773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3500438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60100" y="3163888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3163888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163888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4276725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60100" y="3706614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0" y="3706614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3706614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956745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מדוע יהיה עדיף על iPlan או על החלופות הקיימות?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053012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60100" y="4482902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0000" y="4482902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482902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733032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60100" y="5259189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5259189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יכולת ביצוע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259189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מה צריך לקרות לפני פיתוח?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50932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אילו משאבים, בעלוּת ואבני דרך נדרשים?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3188" y="6121400"/>
            <a:ext cx="192681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⁦03 / 06⁩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1446" y="584200"/>
            <a:ext cx="748554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המתודולוגיה: מהנחות עבודה להחלטה עסקית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9398000" y="2387600"/>
            <a:ext cx="2032000" cy="25175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98000" y="2387600"/>
            <a:ext cx="2032000" cy="254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7700" y="2565400"/>
            <a:ext cx="1752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37700" y="2832100"/>
            <a:ext cx="1752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4689" y="3035300"/>
            <a:ext cx="2095611" cy="220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6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7700" y="3370064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37700" y="362525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7700" y="388044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7700" y="4135636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נכונות לשלם וצמיחה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7700" y="4422577"/>
            <a:ext cx="17526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39000" y="2387600"/>
            <a:ext cx="2032000" cy="25175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39000" y="2387600"/>
            <a:ext cx="2032000" cy="254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8700" y="2565400"/>
            <a:ext cx="1752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8700" y="2832100"/>
            <a:ext cx="1752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693" y="3035300"/>
            <a:ext cx="2062607" cy="220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6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700" y="3370064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מיפוי שוק וגודלו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700" y="362525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9286" y="3880445"/>
            <a:ext cx="176201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6272" y="4135636"/>
            <a:ext cx="1875028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0" y="2387600"/>
            <a:ext cx="2032000" cy="25175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80000" y="2387600"/>
            <a:ext cx="2032000" cy="254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9700" y="2565400"/>
            <a:ext cx="1752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9700" y="2832100"/>
            <a:ext cx="1752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4790" y="3035300"/>
            <a:ext cx="2177510" cy="220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6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9700" y="3370064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לקוח יעד מוגדר (ICP)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9700" y="362525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9700" y="388044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9700" y="4135636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1000" y="2387600"/>
            <a:ext cx="2032000" cy="25175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21000" y="2387600"/>
            <a:ext cx="2032000" cy="2540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60700" y="2565400"/>
            <a:ext cx="1752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0700" y="2832100"/>
            <a:ext cx="1752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6670" y="3035300"/>
            <a:ext cx="2246630" cy="220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6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44285" y="3370064"/>
            <a:ext cx="1769015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שוק נגיש ותמחור אפשרי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0700" y="362525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הנחות אימוץ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0700" y="388044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0700" y="4135636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2387600"/>
            <a:ext cx="2032000" cy="25175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2000" y="2387600"/>
            <a:ext cx="2032000" cy="2540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1700" y="2565400"/>
            <a:ext cx="1752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700" y="2832100"/>
            <a:ext cx="1752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696" y="3035300"/>
            <a:ext cx="2036604" cy="220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6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1700" y="3370064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1700" y="362525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3880445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1700" y="4135636"/>
            <a:ext cx="1752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0000" y="5124450"/>
            <a:ext cx="6350000" cy="127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03000" y="5226050"/>
            <a:ext cx="19304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560"/>
              </a:lnSpc>
            </a:pPr>
            <a:r>
              <a:rPr sz="12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4635" y="5226050"/>
            <a:ext cx="7149465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ההנחות, את הלקוח ואת הגדרת המוצר.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2000" y="5124450"/>
            <a:ext cx="4191000" cy="1270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01170" y="5226050"/>
            <a:ext cx="351830" cy="254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83720" y="5270500"/>
            <a:ext cx="2891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07730" y="5226050"/>
            <a:ext cx="642640" cy="254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90280" y="5270500"/>
            <a:ext cx="6711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62821" y="5226050"/>
            <a:ext cx="494109" cy="254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45371" y="5270500"/>
            <a:ext cx="46974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2000" y="5543550"/>
            <a:ext cx="41910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75098" y="6121400"/>
            <a:ext cx="17549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⁦04 / 06⁩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8737" y="584200"/>
            <a:ext cx="109126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שתי דרכים לבחון את ההזדמנות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76371" y="1828800"/>
            <a:ext cx="9353629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אותה מסגרת אסטרטגית. ההבדל הוא מי מבצע את המחקר — ומכאן עומק הראיות ומידת עצמאותן.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7600" y="2387600"/>
            <a:ext cx="5232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7600" y="2387600"/>
            <a:ext cx="5232400" cy="25400"/>
          </a:xfrm>
          <a:prstGeom prst="rect">
            <a:avLst/>
          </a:prstGeom>
          <a:solidFill>
            <a:srgbClr val="41586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7600" y="5708650"/>
            <a:ext cx="52324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760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365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4450" y="2540000"/>
            <a:ext cx="48387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חלופה א' — תהליך מונחה וממוקד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94450" y="3101280"/>
            <a:ext cx="48387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6043" y="2806700"/>
            <a:ext cx="5177107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עבודה משותפת המבוססת על הידע הקיים ועל איסוף מידע בידי בן ואופק.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1950" y="3202880"/>
            <a:ext cx="711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אלון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4450" y="3183830"/>
            <a:ext cx="40132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מסגרות ניתוח וראיון · ניתוח ממצאים · מודל כלכלי · הנחיית מפגשים · מסקנות ומפת דרכים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1950" y="3690441"/>
            <a:ext cx="711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בן ואופק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4450" y="3671391"/>
            <a:ext cx="4013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מידע פנימי · איסוף מידע בשוק · שיחות עם לקוחות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4450" y="3953272"/>
            <a:ext cx="4838700" cy="798711"/>
          </a:xfrm>
          <a:prstGeom prst="rect">
            <a:avLst/>
          </a:prstGeom>
          <a:solidFill>
            <a:srgbClr val="F1F1E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7750" y="3953272"/>
            <a:ext cx="25400" cy="798711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8750" y="4042172"/>
            <a:ext cx="45847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מה חשוב לדעת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8750" y="4251722"/>
            <a:ext cx="45847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חסכוני יותר, אך עצמאות המחקר נמוכה יותר: ראיונות בהובלת היזמים אינם שקולים לראיון מקצועי מבחינת עומק חקירה, אחידות ונייטרליות.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94450" y="4901009"/>
            <a:ext cx="48387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72100" y="4996259"/>
            <a:ext cx="11610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⁦450⁩</a:t>
            </a: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 ₪ + מע"מ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25100" y="5228630"/>
            <a:ext cx="90805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4450" y="4996259"/>
            <a:ext cx="19177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היקף ייעוץ מוערך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4450" y="5193109"/>
            <a:ext cx="19177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כ-</a:t>
            </a: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⁦30–45⁩</a:t>
            </a: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 שעות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40479" y="5422900"/>
            <a:ext cx="2571671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טווח ראשוני — ייקבע לאחר הגדרת ההיקף.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2387600"/>
            <a:ext cx="5232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2000" y="2387600"/>
            <a:ext cx="5232400" cy="25400"/>
          </a:xfrm>
          <a:prstGeom prst="rect">
            <a:avLst/>
          </a:prstGeom>
          <a:solidFill>
            <a:srgbClr val="41586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2000" y="5708650"/>
            <a:ext cx="52324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8805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850" y="2540000"/>
            <a:ext cx="48387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חלופה ב' — תהליך מחקר מלא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850" y="3101280"/>
            <a:ext cx="48387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8850" y="2806700"/>
            <a:ext cx="4838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מחקר, ראיונות ואנליזה בהובלה מקצועית מלאה.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6350" y="3202880"/>
            <a:ext cx="711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אלון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850" y="3183830"/>
            <a:ext cx="40132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ניתוח שוק וחלופות · עיצוב המחקר · ראיונות לקוחות ומומחים · סינתזת ראיות · מודל כלכלי · מפת דרכים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86350" y="3690441"/>
            <a:ext cx="711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בן ואופק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850" y="3671391"/>
            <a:ext cx="4013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גישה ונתונים פנימיים · הקשר ענפי · הפניות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850" y="3953272"/>
            <a:ext cx="4838700" cy="798711"/>
          </a:xfrm>
          <a:prstGeom prst="rect">
            <a:avLst/>
          </a:prstGeom>
          <a:solidFill>
            <a:srgbClr val="F1F1E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72150" y="3953272"/>
            <a:ext cx="25400" cy="798711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3150" y="4042172"/>
            <a:ext cx="45847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מה זה נותן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3150" y="4251722"/>
            <a:ext cx="45847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עצמאות, עומק ואיכות ראיות גבוהות יותר: ראיונות מאתגרים הנחות, מאפשרים חקירת המשך והשוואה עקבית בין ראיונות, והניתוח חשוף פחות להטיית אישוש.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8850" y="4953000"/>
            <a:ext cx="48387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36500" y="5048250"/>
            <a:ext cx="11610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⁦450⁩</a:t>
            </a:r>
            <a:r>
              <a:rPr sz="12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 ₪ + מע"מ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500" y="5280620"/>
            <a:ext cx="90805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850" y="5048250"/>
            <a:ext cx="2794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היקף ועלות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850" y="525145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יוגדרו לאחר פגישת המיפוי, לפי עומק המחקר, מספר הסגמנטים והיקף עבודת השטח.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88839" y="6121400"/>
            <a:ext cx="294116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תמחור שעתי · היקף ייקבע לאחר פגישת המיפוי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⁦05 / 06⁩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31811" y="584200"/>
            <a:ext cx="498189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לדיון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מה חשוב שנבין היום?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חמש שאלות שיקבעו את מטרת העבודה ואת רמת הבדיקה המתאימה.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71780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0100" y="2393950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387600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בדיוק במצב הקיים גרם לכם לומר: "צריך לבנות לזה פתרון אחר"?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319264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60100" y="2995414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989064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למי אתם חושבים שהמוצר הראשון מיועד — ומה גורם לכם לחשוב שזה הלקוח הנכון?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3920728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60100" y="3596878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590528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כבר עשיתם עד היום: אפיון, שיחות עם לקוחות, נתונים, הצעות פיתוח או בדיקות אחרות?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4522192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60100" y="4198342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191992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מהי השאיפה העסקית — כלי טוב יותר לפעילות הקיימת, עסק SaaS עצמאי ורווחי, או חברה שניתן להרחיב משמעותית?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60100" y="4799806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4793456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הייתם רוצים לדעת בסוף תהליך הבדיקה כדי להרגיש בנוח לקבל החלטה על ההשקעה הבאה?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212755"/>
            <a:ext cx="10668000" cy="502245"/>
          </a:xfrm>
          <a:prstGeom prst="rect">
            <a:avLst/>
          </a:prstGeom>
          <a:solidFill>
            <a:srgbClr val="F6E6D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04600" y="5212755"/>
            <a:ext cx="25400" cy="502245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8088" y="5396905"/>
            <a:ext cx="112871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בסיום המפגש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063" y="5352455"/>
            <a:ext cx="6995557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נחדד את מטרת העבודה, נבחר את רמת הבדיקה המתאימה ונגדיר Scope ותמחור בהתאם.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20598" y="6121400"/>
            <a:ext cx="13094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⁦06 / 06⁩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