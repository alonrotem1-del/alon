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58800" cy="406400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064000"/>
            <a:ext cx="558800" cy="2794000"/>
          </a:xfrm>
          <a:prstGeom prst="rect">
            <a:avLst/>
          </a:prstGeom>
          <a:solidFill>
            <a:srgbClr val="2E6A69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50041" y="508000"/>
            <a:ext cx="1579959" cy="2730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43494" y="552450"/>
            <a:ext cx="1784906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20"/>
              </a:lnSpc>
            </a:pPr>
            <a:r>
              <a:rPr sz="1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פגישת היכרות ומיפוי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24000" y="1270000"/>
            <a:ext cx="9906000" cy="6369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5016"/>
              </a:lnSpc>
            </a:pPr>
            <a:r>
              <a:rPr sz="4400" b="1">
                <a:solidFill>
                  <a:srgbClr val="12212F"/>
                </a:solidFill>
                <a:latin typeface="Times New Roman"/>
                <a:ea typeface="Times New Roman"/>
                <a:cs typeface="Times New Roman"/>
              </a:rPr>
              <a:t>מרעיון למיזם בר־בחינה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75000" y="2184400"/>
            <a:ext cx="8255000" cy="2844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240"/>
              </a:lnSpc>
            </a:pPr>
            <a:r>
              <a:rPr sz="16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בחינת ההזדמנות, תיקוף ההנחות והגדרת הדרך קדימה</a:t>
            </a:r>
          </a:p>
        </p:txBody>
      </p:sp>
      <p:sp>
        <p:nvSpPr>
          <p:cNvPr id="8" name="Rectangle 7"/>
          <p:cNvSpPr/>
          <p:nvPr/>
        </p:nvSpPr>
        <p:spPr>
          <a:xfrm>
            <a:off x="3048000" y="2717800"/>
            <a:ext cx="8382000" cy="531416"/>
          </a:xfrm>
          <a:prstGeom prst="rect">
            <a:avLst/>
          </a:prstGeom>
          <a:solidFill>
            <a:srgbClr val="F8E7DD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98250" y="2717800"/>
            <a:ext cx="31750" cy="531416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67604" y="2857500"/>
            <a:ext cx="9040146" cy="2393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885"/>
              </a:lnSpc>
            </a:pPr>
            <a:r>
              <a:rPr sz="1300" b="0">
                <a:solidFill>
                  <a:srgbClr val="12212F"/>
                </a:solidFill>
                <a:latin typeface="Arial"/>
                <a:ea typeface="Arial"/>
                <a:cs typeface="Arial"/>
              </a:rPr>
              <a:t>המטרה היא לא להחליט היום אם לפתח — אלא להבין מה צריך להיות נכון כדי שהמיזם יהיה כדאי, ואיך נכון לבדוק זאת.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11133" y="4445000"/>
            <a:ext cx="3318867" cy="3810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11133" y="4610100"/>
            <a:ext cx="3318867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B44A22"/>
                </a:solidFill>
                <a:latin typeface="Arial"/>
                <a:ea typeface="Arial"/>
                <a:cs typeface="Arial"/>
              </a:rPr>
              <a:t>היום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11133" y="4826000"/>
            <a:ext cx="3318867" cy="2742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160"/>
              </a:lnSpc>
            </a:pPr>
            <a:r>
              <a:rPr sz="1800" b="1">
                <a:solidFill>
                  <a:srgbClr val="12212F"/>
                </a:solidFill>
                <a:latin typeface="Times New Roman"/>
                <a:ea typeface="Times New Roman"/>
                <a:cs typeface="Times New Roman"/>
              </a:rPr>
              <a:t>רעיון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11133" y="5176441"/>
            <a:ext cx="3318867" cy="213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8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ניסיון ענפי והנחות עבודה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6566" y="4445000"/>
            <a:ext cx="3318966" cy="3810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6566" y="4610100"/>
            <a:ext cx="331896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B44A22"/>
                </a:solidFill>
                <a:latin typeface="Arial"/>
                <a:ea typeface="Arial"/>
                <a:cs typeface="Arial"/>
              </a:rPr>
              <a:t>התהליך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6566" y="4826000"/>
            <a:ext cx="3318966" cy="2742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160"/>
              </a:lnSpc>
            </a:pPr>
            <a:r>
              <a:rPr sz="1800" b="1">
                <a:solidFill>
                  <a:srgbClr val="12212F"/>
                </a:solidFill>
                <a:latin typeface="Times New Roman"/>
                <a:ea typeface="Times New Roman"/>
                <a:cs typeface="Times New Roman"/>
              </a:rPr>
              <a:t>בחינה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6566" y="5176441"/>
            <a:ext cx="3318966" cy="213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8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תיקוף מול שוק, לקוחות וכלכלה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2000" y="4445000"/>
            <a:ext cx="3318966" cy="38100"/>
          </a:xfrm>
          <a:prstGeom prst="rect">
            <a:avLst/>
          </a:prstGeom>
          <a:solidFill>
            <a:srgbClr val="2E6A69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000" y="4610100"/>
            <a:ext cx="331896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2E6A69"/>
                </a:solidFill>
                <a:latin typeface="Arial"/>
                <a:ea typeface="Arial"/>
                <a:cs typeface="Arial"/>
              </a:rPr>
              <a:t>התוצר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4826000"/>
            <a:ext cx="3318966" cy="2742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160"/>
              </a:lnSpc>
            </a:pPr>
            <a:r>
              <a:rPr sz="1800" b="1">
                <a:solidFill>
                  <a:srgbClr val="12212F"/>
                </a:solidFill>
                <a:latin typeface="Times New Roman"/>
                <a:ea typeface="Times New Roman"/>
                <a:cs typeface="Times New Roman"/>
              </a:rPr>
              <a:t>החלטה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2000" y="5176441"/>
            <a:ext cx="3318966" cy="213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8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מבוססת ראיות, עם תוכנית פעולה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2000" y="6007100"/>
            <a:ext cx="10668000" cy="6350"/>
          </a:xfrm>
          <a:prstGeom prst="rect">
            <a:avLst/>
          </a:prstGeom>
          <a:solidFill>
            <a:srgbClr val="C7C2B8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12238" y="6121400"/>
            <a:ext cx="2417763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0">
                <a:solidFill>
                  <a:srgbClr val="7B7970"/>
                </a:solidFill>
                <a:latin typeface="Arial"/>
                <a:ea typeface="Arial"/>
                <a:cs typeface="Arial"/>
              </a:rPr>
              <a:t>אלון רותם · בן · אופק · ספטמבר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9101" y="6121400"/>
            <a:ext cx="545529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4C4A44"/>
                </a:solidFill>
                <a:latin typeface="Arial"/>
                <a:ea typeface="Arial"/>
                <a:cs typeface="Arial"/>
              </a:rPr>
              <a:t>⁦01 / 08⁩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219630" y="508000"/>
            <a:ext cx="1210370" cy="2730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06441" y="552450"/>
            <a:ext cx="1321959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20"/>
              </a:lnSpc>
            </a:pPr>
            <a:r>
              <a:rPr sz="1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מי מלווה אתכם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05000" y="901700"/>
            <a:ext cx="9525000" cy="4266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3360"/>
              </a:lnSpc>
            </a:pPr>
            <a:r>
              <a:rPr sz="2800" b="1">
                <a:solidFill>
                  <a:srgbClr val="12212F"/>
                </a:solidFill>
                <a:latin typeface="Times New Roman"/>
                <a:ea typeface="Times New Roman"/>
                <a:cs typeface="Times New Roman"/>
              </a:rPr>
              <a:t>נעים להכיר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15400" y="1828800"/>
            <a:ext cx="9114600" cy="2742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160"/>
              </a:lnSpc>
            </a:pPr>
            <a:r>
              <a:rPr sz="16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במיזם הזה אעזור לכם לפרק את הרעיון לשאלות שצריך לבדוק לפני שמחליטים כמה ואיך להשקיע.</a:t>
            </a:r>
          </a:p>
        </p:txBody>
      </p:sp>
      <p:sp>
        <p:nvSpPr>
          <p:cNvPr id="6" name="Rectangle 5"/>
          <p:cNvSpPr/>
          <p:nvPr/>
        </p:nvSpPr>
        <p:spPr>
          <a:xfrm>
            <a:off x="9525000" y="2387600"/>
            <a:ext cx="1905000" cy="3327400"/>
          </a:xfrm>
          <a:prstGeom prst="rect">
            <a:avLst/>
          </a:prstGeom>
          <a:solidFill>
            <a:srgbClr val="F1EEE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525000" y="2387600"/>
            <a:ext cx="1905000" cy="3810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677400" y="2578100"/>
            <a:ext cx="1600200" cy="1778000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7400" y="2578100"/>
            <a:ext cx="1600200" cy="1778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77400" y="4495800"/>
            <a:ext cx="1600200" cy="2742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160"/>
              </a:lnSpc>
            </a:pPr>
            <a:r>
              <a:rPr sz="1800" b="1">
                <a:solidFill>
                  <a:srgbClr val="12212F"/>
                </a:solidFill>
                <a:latin typeface="Times New Roman"/>
                <a:ea typeface="Times New Roman"/>
                <a:cs typeface="Times New Roman"/>
              </a:rPr>
              <a:t>אלון רותם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77400" y="4820841"/>
            <a:ext cx="16002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1">
                <a:solidFill>
                  <a:srgbClr val="B44A22"/>
                </a:solidFill>
                <a:latin typeface="Arial"/>
                <a:ea typeface="Arial"/>
                <a:cs typeface="Arial"/>
              </a:rPr>
              <a:t>יועץ אסטרטגי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77400" y="5026521"/>
            <a:ext cx="16002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1">
                <a:solidFill>
                  <a:srgbClr val="B44A22"/>
                </a:solidFill>
                <a:latin typeface="Arial"/>
                <a:ea typeface="Arial"/>
                <a:cs typeface="Arial"/>
              </a:rPr>
              <a:t>מנהל ב־</a:t>
            </a:r>
            <a:r>
              <a:rPr sz="1200" b="1">
                <a:solidFill>
                  <a:srgbClr val="B44A22"/>
                </a:solidFill>
                <a:latin typeface="Arial"/>
                <a:ea typeface="Arial"/>
                <a:cs typeface="Arial"/>
              </a:rPr>
              <a:t>⁦BDO⁩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08020" y="2387600"/>
            <a:ext cx="535980" cy="2349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66007" y="2419350"/>
            <a:ext cx="482743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ניסיון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2711450"/>
            <a:ext cx="83820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כ־10 שנים בפרויקטים אסטרטגיים מקומיים ובינלאומיים: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86850" y="3056830"/>
            <a:ext cx="57150" cy="571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3966" y="2993330"/>
            <a:ext cx="2491284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אסטרטגיית צמיחה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20916" y="3056830"/>
            <a:ext cx="57150" cy="571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28033" y="2993330"/>
            <a:ext cx="2491284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בדיקות כדאיות וכניסה לשווקים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54983" y="3056830"/>
            <a:ext cx="57150" cy="571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2000" y="2993330"/>
            <a:ext cx="2491383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מודלים עסקיים וכלכליים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86850" y="3312021"/>
            <a:ext cx="57150" cy="571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3966" y="3248521"/>
            <a:ext cx="2491284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אסטרטגיה דיגיטלית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20916" y="3312021"/>
            <a:ext cx="57150" cy="571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28033" y="3248521"/>
            <a:ext cx="2491284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תרגום תובנות לתוכנית פעולה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521700" y="3831530"/>
            <a:ext cx="622300" cy="234950"/>
          </a:xfrm>
          <a:prstGeom prst="rect">
            <a:avLst/>
          </a:prstGeom>
          <a:solidFill>
            <a:srgbClr val="2E6A69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51437" y="3863280"/>
            <a:ext cx="597313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השכלה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2000" y="4155380"/>
            <a:ext cx="838200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⁦M.B.A⁩</a:t>
            </a: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 — אוניברסיטת תל אביב, בהצטיינות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2000" y="4397871"/>
            <a:ext cx="838200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⁦B.A⁩</a:t>
            </a: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 מנהל עסקים — המרכז הבינתחומי הרצליה, בהצטיינות יתרה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74000" y="4980880"/>
            <a:ext cx="1270000" cy="234950"/>
          </a:xfrm>
          <a:prstGeom prst="rect">
            <a:avLst/>
          </a:prstGeom>
          <a:solidFill>
            <a:srgbClr val="22384A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33891" y="5012630"/>
            <a:ext cx="1414859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פרויקטים לדוגמה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62000" y="5304730"/>
            <a:ext cx="8382000" cy="4101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112250" y="5304730"/>
            <a:ext cx="31750" cy="410170"/>
          </a:xfrm>
          <a:prstGeom prst="rect">
            <a:avLst/>
          </a:prstGeom>
          <a:solidFill>
            <a:srgbClr val="2E6A69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1700" y="5399980"/>
            <a:ext cx="8070850" cy="213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8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אלטשולר שחם · כללית · ענבי טלי · מטבחי רגבה · פלסן סאסא · מבושלת · אסטרטגיית דיגיטל לתמה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62000" y="6007100"/>
            <a:ext cx="10668000" cy="6350"/>
          </a:xfrm>
          <a:prstGeom prst="rect">
            <a:avLst/>
          </a:prstGeom>
          <a:solidFill>
            <a:srgbClr val="C7C2B8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62430" y="6121400"/>
            <a:ext cx="176757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0">
                <a:solidFill>
                  <a:srgbClr val="7B7970"/>
                </a:solidFill>
                <a:latin typeface="Arial"/>
                <a:ea typeface="Arial"/>
                <a:cs typeface="Arial"/>
              </a:rPr>
              <a:t>רקע מקצועי · התפקיד בליווי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9101" y="6121400"/>
            <a:ext cx="545529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4C4A44"/>
                </a:solidFill>
                <a:latin typeface="Arial"/>
                <a:ea typeface="Arial"/>
                <a:cs typeface="Arial"/>
              </a:rPr>
              <a:t>⁦02 / 08⁩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387310" y="508000"/>
            <a:ext cx="1042690" cy="2730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27913" y="552450"/>
            <a:ext cx="1100487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20"/>
              </a:lnSpc>
            </a:pPr>
            <a:r>
              <a:rPr sz="1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מסגרת הדיון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05000" y="901700"/>
            <a:ext cx="9525000" cy="4266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3360"/>
              </a:lnSpc>
            </a:pPr>
            <a:r>
              <a:rPr sz="2800" b="1">
                <a:solidFill>
                  <a:srgbClr val="12212F"/>
                </a:solidFill>
                <a:latin typeface="Times New Roman"/>
                <a:ea typeface="Times New Roman"/>
                <a:cs typeface="Times New Roman"/>
              </a:rPr>
              <a:t>לפני שבונים מערכת — יש כמה שאלות שצריכות לקבל תשובה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94000" y="1828800"/>
            <a:ext cx="8636000" cy="2742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160"/>
              </a:lnSpc>
            </a:pPr>
            <a:r>
              <a:rPr sz="16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אלה לא מסקנות. אלה התחומים שהתהליך אמור לתת עליהם תשובה מבוססת.</a:t>
            </a:r>
          </a:p>
        </p:txBody>
      </p:sp>
      <p:sp>
        <p:nvSpPr>
          <p:cNvPr id="6" name="Rectangle 5"/>
          <p:cNvSpPr/>
          <p:nvPr/>
        </p:nvSpPr>
        <p:spPr>
          <a:xfrm>
            <a:off x="584200" y="2387600"/>
            <a:ext cx="11023600" cy="665460"/>
          </a:xfrm>
          <a:prstGeom prst="rect">
            <a:avLst/>
          </a:prstGeom>
          <a:solidFill>
            <a:srgbClr val="F1EEE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074400" y="2454275"/>
            <a:ext cx="355600" cy="35560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74400" y="2454275"/>
            <a:ext cx="3556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400"/>
              </a:lnSpc>
            </a:pPr>
            <a:r>
              <a:rPr sz="14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67800" y="2517775"/>
            <a:ext cx="18415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4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שוק ולקוח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2530475"/>
            <a:ext cx="81407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מי הלקוח הראשון האמיתי — </a:t>
            </a: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⁦DJ⁩</a:t>
            </a: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 עצמאי, חברת </a:t>
            </a: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⁦DJs⁩</a:t>
            </a: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, או סגמנט אחר?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2780605"/>
            <a:ext cx="81407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כמה גדול ונגיש השוק הרלוונטי?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74400" y="3207941"/>
            <a:ext cx="355600" cy="35560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74400" y="3207941"/>
            <a:ext cx="3556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400"/>
              </a:lnSpc>
            </a:pPr>
            <a:r>
              <a:rPr sz="14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67800" y="3271441"/>
            <a:ext cx="18415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4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הבעיה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3284141"/>
            <a:ext cx="81407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איזו בעיה כואבת ותכופה מספיק כדי להצדיק מעבר לפתרון חדש?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4200" y="3718520"/>
            <a:ext cx="11023600" cy="665460"/>
          </a:xfrm>
          <a:prstGeom prst="rect">
            <a:avLst/>
          </a:prstGeom>
          <a:solidFill>
            <a:srgbClr val="F1EEE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074400" y="3785195"/>
            <a:ext cx="355600" cy="35560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74400" y="3785195"/>
            <a:ext cx="3556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400"/>
              </a:lnSpc>
            </a:pPr>
            <a:r>
              <a:rPr sz="14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67800" y="3848695"/>
            <a:ext cx="18415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4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מוצר ובידול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3861395"/>
            <a:ext cx="81407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מה המוצר הראשון באמת צריך לפתור?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4111526"/>
            <a:ext cx="81407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מדוע יהיה עדיף על </a:t>
            </a: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⁦iPlan⁩</a:t>
            </a: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 או על החלופות הקיימות?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074400" y="4450655"/>
            <a:ext cx="355600" cy="355600"/>
          </a:xfrm>
          <a:prstGeom prst="rect">
            <a:avLst/>
          </a:prstGeom>
          <a:solidFill>
            <a:srgbClr val="2E6A69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074400" y="4450655"/>
            <a:ext cx="3556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400"/>
              </a:lnSpc>
            </a:pPr>
            <a:r>
              <a:rPr sz="14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67800" y="4514155"/>
            <a:ext cx="18415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4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כלכלה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2000" y="4526855"/>
            <a:ext cx="81407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מי משלם, וכמה ריאלי שישלם?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2000" y="4776986"/>
            <a:ext cx="81407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איזה היקף פעילות נדרש כדי שזה יהיה עסק אטרקטיבי?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4200" y="5049441"/>
            <a:ext cx="11023600" cy="665559"/>
          </a:xfrm>
          <a:prstGeom prst="rect">
            <a:avLst/>
          </a:prstGeom>
          <a:solidFill>
            <a:srgbClr val="F1EEE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074400" y="5116215"/>
            <a:ext cx="355600" cy="355600"/>
          </a:xfrm>
          <a:prstGeom prst="rect">
            <a:avLst/>
          </a:prstGeom>
          <a:solidFill>
            <a:srgbClr val="2E6A69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074400" y="5116215"/>
            <a:ext cx="3556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400"/>
              </a:lnSpc>
            </a:pPr>
            <a:r>
              <a:rPr sz="14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67800" y="5179715"/>
            <a:ext cx="18415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4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דרך לביצוע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2000" y="5192415"/>
            <a:ext cx="81407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מה צריך לקרות לפני פיתוח?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2000" y="5442545"/>
            <a:ext cx="81407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אילו משאבים, בעלוּת ואבני דרך נדרשים?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62000" y="6007100"/>
            <a:ext cx="10668000" cy="6350"/>
          </a:xfrm>
          <a:prstGeom prst="rect">
            <a:avLst/>
          </a:prstGeom>
          <a:solidFill>
            <a:srgbClr val="C7C2B8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03188" y="6121400"/>
            <a:ext cx="1926812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0">
                <a:solidFill>
                  <a:srgbClr val="7B7970"/>
                </a:solidFill>
                <a:latin typeface="Arial"/>
                <a:ea typeface="Arial"/>
                <a:cs typeface="Arial"/>
              </a:rPr>
              <a:t>תחומים לתיקוף — לא מסקנות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9101" y="6121400"/>
            <a:ext cx="545529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4C4A44"/>
                </a:solidFill>
                <a:latin typeface="Arial"/>
                <a:ea typeface="Arial"/>
                <a:cs typeface="Arial"/>
              </a:rPr>
              <a:t>⁦03 / 08⁩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711160" y="508000"/>
            <a:ext cx="718840" cy="2730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36186" y="552450"/>
            <a:ext cx="692214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20"/>
              </a:lnSpc>
            </a:pPr>
            <a:r>
              <a:rPr sz="1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התהליך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05000" y="901700"/>
            <a:ext cx="9525000" cy="4266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3360"/>
              </a:lnSpc>
            </a:pPr>
            <a:r>
              <a:rPr sz="2800" b="1">
                <a:solidFill>
                  <a:srgbClr val="12212F"/>
                </a:solidFill>
                <a:latin typeface="Times New Roman"/>
                <a:ea typeface="Times New Roman"/>
                <a:cs typeface="Times New Roman"/>
              </a:rPr>
              <a:t>המתודולוגיה: מהנחות עבודה להחלטה עסקית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10005" y="1828800"/>
            <a:ext cx="8719995" cy="2742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160"/>
              </a:lnSpc>
            </a:pPr>
            <a:r>
              <a:rPr sz="16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התהליך אינו ליניארי — ממצאים מהשוק חוזרים ומחדדים את ההנחות ואת הגדרת ההזדמנות.</a:t>
            </a:r>
          </a:p>
        </p:txBody>
      </p:sp>
      <p:sp>
        <p:nvSpPr>
          <p:cNvPr id="6" name="Rectangle 5"/>
          <p:cNvSpPr/>
          <p:nvPr/>
        </p:nvSpPr>
        <p:spPr>
          <a:xfrm>
            <a:off x="9357420" y="2387600"/>
            <a:ext cx="2072580" cy="2633067"/>
          </a:xfrm>
          <a:prstGeom prst="rect">
            <a:avLst/>
          </a:prstGeom>
          <a:solidFill>
            <a:srgbClr val="FFFFFF"/>
          </a:solidFill>
          <a:ln w="6350">
            <a:solidFill>
              <a:srgbClr val="E3DFD7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363770" y="2393950"/>
            <a:ext cx="2059880" cy="950714"/>
          </a:xfrm>
          <a:prstGeom prst="rect">
            <a:avLst/>
          </a:prstGeom>
          <a:solidFill>
            <a:srgbClr val="F8E7DD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363770" y="3338314"/>
            <a:ext cx="2059880" cy="6350"/>
          </a:xfrm>
          <a:prstGeom prst="rect">
            <a:avLst/>
          </a:prstGeom>
          <a:solidFill>
            <a:srgbClr val="E6C5B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228659" y="2463800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4A22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95334" y="2540000"/>
            <a:ext cx="249936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400"/>
              </a:lnSpc>
            </a:pPr>
            <a:r>
              <a:rPr sz="1400" b="1">
                <a:solidFill>
                  <a:srgbClr val="B44A22"/>
                </a:solidFill>
                <a:latin typeface="Times New Roman"/>
                <a:ea typeface="Times New Roman"/>
                <a:cs typeface="Times New Roman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49171" y="2851150"/>
            <a:ext cx="1047814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B44A22"/>
                </a:solidFill>
                <a:latin typeface="Arial"/>
                <a:ea typeface="Arial"/>
                <a:cs typeface="Arial"/>
              </a:rPr>
              <a:t>נקודת המוצא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40019" y="3073400"/>
            <a:ext cx="1907480" cy="4028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rtl="1">
              <a:lnSpc>
                <a:spcPts val="1586"/>
              </a:lnSpc>
            </a:pPr>
            <a:r>
              <a:rPr sz="13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הנחות עבודה ראשוניות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39970" y="3427214"/>
            <a:ext cx="19074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לקוח יעד ובעיה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39970" y="3663355"/>
            <a:ext cx="19074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תהליך העבודה כיום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39970" y="3899495"/>
            <a:ext cx="19074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רעיון המוצר והחלופות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39970" y="4135636"/>
            <a:ext cx="1907480" cy="3960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הנחות לגבי תמחור ופוטנציאל צמיחה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9970" y="4588867"/>
            <a:ext cx="190748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50"/>
              </a:lnSpc>
            </a:pPr>
            <a:r>
              <a:rPr sz="1000" b="0">
                <a:solidFill>
                  <a:srgbClr val="7B7970"/>
                </a:solidFill>
                <a:latin typeface="Arial"/>
                <a:ea typeface="Arial"/>
                <a:cs typeface="Arial"/>
              </a:rPr>
              <a:t>מנוסחות מהידע הענפי שלכם — כהנחות, לא כמסקנות.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08540" y="2387600"/>
            <a:ext cx="2072680" cy="2633067"/>
          </a:xfrm>
          <a:prstGeom prst="rect">
            <a:avLst/>
          </a:prstGeom>
          <a:solidFill>
            <a:srgbClr val="FFFFFF"/>
          </a:solidFill>
          <a:ln w="6350">
            <a:solidFill>
              <a:srgbClr val="E3DFD7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214890" y="2393950"/>
            <a:ext cx="2059980" cy="950714"/>
          </a:xfrm>
          <a:prstGeom prst="rect">
            <a:avLst/>
          </a:prstGeom>
          <a:solidFill>
            <a:srgbClr val="F8E7DD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14890" y="3338314"/>
            <a:ext cx="2059980" cy="6350"/>
          </a:xfrm>
          <a:prstGeom prst="rect">
            <a:avLst/>
          </a:prstGeom>
          <a:solidFill>
            <a:srgbClr val="E6C5B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079780" y="2463800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4A22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40105" y="2540000"/>
            <a:ext cx="249936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400"/>
              </a:lnSpc>
            </a:pPr>
            <a:r>
              <a:rPr sz="1400" b="1">
                <a:solidFill>
                  <a:srgbClr val="B44A22"/>
                </a:solidFill>
                <a:latin typeface="Times New Roman"/>
                <a:ea typeface="Times New Roman"/>
                <a:cs typeface="Times New Roman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24151" y="2851150"/>
            <a:ext cx="989028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B44A22"/>
                </a:solidFill>
                <a:latin typeface="Arial"/>
                <a:ea typeface="Arial"/>
                <a:cs typeface="Arial"/>
              </a:rPr>
              <a:t>איסוף ראיות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91090" y="3073400"/>
            <a:ext cx="1907580" cy="4028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rtl="1">
              <a:lnSpc>
                <a:spcPts val="1586"/>
              </a:lnSpc>
            </a:pPr>
            <a:r>
              <a:rPr sz="13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בדיקת השוק והלקוחות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91090" y="3427214"/>
            <a:ext cx="19075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מיפוי שוק וגודלו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91090" y="3663355"/>
            <a:ext cx="19075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ניתוח חלופות ומתחרים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1090" y="3899495"/>
            <a:ext cx="19075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ראיונות לקוחות ומומחים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91090" y="4135636"/>
            <a:ext cx="19075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חסמי מעבר ונכונות לשלם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59759" y="2387600"/>
            <a:ext cx="2072580" cy="2633067"/>
          </a:xfrm>
          <a:prstGeom prst="rect">
            <a:avLst/>
          </a:prstGeom>
          <a:solidFill>
            <a:srgbClr val="FFFFFF"/>
          </a:solidFill>
          <a:ln w="6350">
            <a:solidFill>
              <a:srgbClr val="E3DFD7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66109" y="2393950"/>
            <a:ext cx="2059880" cy="950714"/>
          </a:xfrm>
          <a:prstGeom prst="rect">
            <a:avLst/>
          </a:prstGeom>
          <a:solidFill>
            <a:srgbClr val="F8E7DD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66109" y="3338314"/>
            <a:ext cx="2059880" cy="6350"/>
          </a:xfrm>
          <a:prstGeom prst="rect">
            <a:avLst/>
          </a:prstGeom>
          <a:solidFill>
            <a:srgbClr val="E6C5B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930999" y="2463800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4A22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91324" y="2540000"/>
            <a:ext cx="249936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400"/>
              </a:lnSpc>
            </a:pPr>
            <a:r>
              <a:rPr sz="1400" b="1">
                <a:solidFill>
                  <a:srgbClr val="B44A22"/>
                </a:solidFill>
                <a:latin typeface="Times New Roman"/>
                <a:ea typeface="Times New Roman"/>
                <a:cs typeface="Times New Roman"/>
              </a:rPr>
              <a:t>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87045" y="2851150"/>
            <a:ext cx="486854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B44A22"/>
                </a:solidFill>
                <a:latin typeface="Arial"/>
                <a:ea typeface="Arial"/>
                <a:cs typeface="Arial"/>
              </a:rPr>
              <a:t>מיקוד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42359" y="3073400"/>
            <a:ext cx="1907480" cy="4028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rtl="1">
              <a:lnSpc>
                <a:spcPts val="1586"/>
              </a:lnSpc>
            </a:pPr>
            <a:r>
              <a:rPr sz="13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חידוד ההזדמנות והמוצר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42309" y="3427214"/>
            <a:ext cx="19074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לקוח יעד מוגדר (</a:t>
            </a: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⁦ICP⁩</a:t>
            </a: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42309" y="3663355"/>
            <a:ext cx="19074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הבעיה המרכזית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42309" y="3899495"/>
            <a:ext cx="19074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הצעת הערך והבידול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42309" y="4135636"/>
            <a:ext cx="19074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גבולות המוצר הראשון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910880" y="2387600"/>
            <a:ext cx="2072680" cy="2633067"/>
          </a:xfrm>
          <a:prstGeom prst="rect">
            <a:avLst/>
          </a:prstGeom>
          <a:solidFill>
            <a:srgbClr val="FFFFFF"/>
          </a:solidFill>
          <a:ln w="6350">
            <a:solidFill>
              <a:srgbClr val="E3DFD7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917230" y="2393950"/>
            <a:ext cx="2059980" cy="950714"/>
          </a:xfrm>
          <a:prstGeom prst="rect">
            <a:avLst/>
          </a:prstGeom>
          <a:solidFill>
            <a:srgbClr val="E2EDEA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917230" y="3338314"/>
            <a:ext cx="2059980" cy="6350"/>
          </a:xfrm>
          <a:prstGeom prst="rect">
            <a:avLst/>
          </a:prstGeom>
          <a:solidFill>
            <a:srgbClr val="B9D2CE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782120" y="2463800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6A69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842445" y="2540000"/>
            <a:ext cx="249936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400"/>
              </a:lnSpc>
            </a:pPr>
            <a:r>
              <a:rPr sz="1400" b="1">
                <a:solidFill>
                  <a:srgbClr val="2E6A69"/>
                </a:solidFill>
                <a:latin typeface="Times New Roman"/>
                <a:ea typeface="Times New Roman"/>
                <a:cs typeface="Times New Roman"/>
              </a:rPr>
              <a:t>04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78376" y="2851150"/>
            <a:ext cx="418068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2E6A69"/>
                </a:solidFill>
                <a:latin typeface="Arial"/>
                <a:ea typeface="Arial"/>
                <a:cs typeface="Arial"/>
              </a:rPr>
              <a:t>מודל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993430" y="3073400"/>
            <a:ext cx="1907580" cy="4028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rtl="1">
              <a:lnSpc>
                <a:spcPts val="1586"/>
              </a:lnSpc>
            </a:pPr>
            <a:r>
              <a:rPr sz="13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בחינת הכדאיות הכלכלית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93430" y="3427214"/>
            <a:ext cx="19075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שוק נגיש ותמחור אפשרי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93430" y="3663355"/>
            <a:ext cx="19075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הנחות אימוץ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993430" y="3899495"/>
            <a:ext cx="19075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עלויות פיתוח ותפעול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993430" y="4135636"/>
            <a:ext cx="19075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תרחישים ורגישויות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62099" y="2387600"/>
            <a:ext cx="2072580" cy="2633067"/>
          </a:xfrm>
          <a:prstGeom prst="rect">
            <a:avLst/>
          </a:prstGeom>
          <a:solidFill>
            <a:srgbClr val="FFFFFF"/>
          </a:solidFill>
          <a:ln w="6350">
            <a:solidFill>
              <a:srgbClr val="E3DFD7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68449" y="2393950"/>
            <a:ext cx="2059880" cy="950714"/>
          </a:xfrm>
          <a:prstGeom prst="rect">
            <a:avLst/>
          </a:prstGeom>
          <a:solidFill>
            <a:srgbClr val="E2EDEA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68449" y="3338314"/>
            <a:ext cx="2059880" cy="6350"/>
          </a:xfrm>
          <a:prstGeom prst="rect">
            <a:avLst/>
          </a:prstGeom>
          <a:solidFill>
            <a:srgbClr val="B9D2CE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1633339" y="2463800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6A69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693664" y="2540000"/>
            <a:ext cx="249936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400"/>
              </a:lnSpc>
            </a:pPr>
            <a:r>
              <a:rPr sz="1400" b="1">
                <a:solidFill>
                  <a:srgbClr val="2E6A69"/>
                </a:solidFill>
                <a:latin typeface="Times New Roman"/>
                <a:ea typeface="Times New Roman"/>
                <a:cs typeface="Times New Roman"/>
              </a:rPr>
              <a:t>05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433012" y="2851150"/>
            <a:ext cx="574977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2E6A69"/>
                </a:solidFill>
                <a:latin typeface="Arial"/>
                <a:ea typeface="Arial"/>
                <a:cs typeface="Arial"/>
              </a:rPr>
              <a:t>מסקנה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51090" y="3073400"/>
            <a:ext cx="1894697" cy="2014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rtl="1">
              <a:lnSpc>
                <a:spcPts val="1586"/>
              </a:lnSpc>
            </a:pPr>
            <a:r>
              <a:rPr sz="13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החלטה ותוכנית פעולה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44649" y="3427214"/>
            <a:ext cx="19074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אבני דרך ושערי החלטה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4649" y="3663355"/>
            <a:ext cx="19074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שלבי בדיקה ופיתוח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4649" y="3899495"/>
            <a:ext cx="19074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דרך ראשונית לשוק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4649" y="4135636"/>
            <a:ext cx="1907480" cy="198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אחריות וצעדים הבאים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059759" y="5187950"/>
            <a:ext cx="6370241" cy="527050"/>
          </a:xfrm>
          <a:prstGeom prst="rect">
            <a:avLst/>
          </a:prstGeom>
          <a:solidFill>
            <a:srgbClr val="F8E7DD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059759" y="5187950"/>
            <a:ext cx="6370241" cy="2540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156950" y="5289550"/>
            <a:ext cx="214376" cy="20439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610"/>
              </a:lnSpc>
            </a:pPr>
            <a:r>
              <a:rPr sz="1400" b="1">
                <a:solidFill>
                  <a:srgbClr val="B44A22"/>
                </a:solidFill>
                <a:latin typeface="Arial"/>
                <a:ea typeface="Arial"/>
                <a:cs typeface="Arial"/>
              </a:rPr>
              <a:t>⇆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951809" y="5289550"/>
            <a:ext cx="6116241" cy="4115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12212F"/>
                </a:solidFill>
                <a:latin typeface="Arial"/>
                <a:ea typeface="Arial"/>
                <a:cs typeface="Arial"/>
              </a:rPr>
              <a:t>שלבים 1–3 מחזוריים: ראיות מהשוק מחזירות אותנו לחדד את ההנחות ואת הגדרת המוצר.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62099" y="5187950"/>
            <a:ext cx="4221460" cy="527050"/>
          </a:xfrm>
          <a:prstGeom prst="rect">
            <a:avLst/>
          </a:prstGeom>
          <a:solidFill>
            <a:srgbClr val="E2EDEA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62099" y="5187950"/>
            <a:ext cx="4221460" cy="25400"/>
          </a:xfrm>
          <a:prstGeom prst="rect">
            <a:avLst/>
          </a:prstGeom>
          <a:solidFill>
            <a:srgbClr val="2E6A69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504730" y="5334000"/>
            <a:ext cx="351830" cy="254000"/>
          </a:xfrm>
          <a:prstGeom prst="rect">
            <a:avLst/>
          </a:prstGeom>
          <a:solidFill>
            <a:srgbClr val="2E6A69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87280" y="5378450"/>
            <a:ext cx="289163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200"/>
              </a:lnSpc>
            </a:pPr>
            <a:r>
              <a:rPr sz="1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GO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811290" y="5334000"/>
            <a:ext cx="642640" cy="25400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893840" y="5378450"/>
            <a:ext cx="6711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200"/>
              </a:lnSpc>
            </a:pPr>
            <a:r>
              <a:rPr sz="1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ADJUST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266380" y="5334000"/>
            <a:ext cx="494109" cy="254000"/>
          </a:xfrm>
          <a:prstGeom prst="rect">
            <a:avLst/>
          </a:prstGeom>
          <a:solidFill>
            <a:srgbClr val="12212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348930" y="5378450"/>
            <a:ext cx="469741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200"/>
              </a:lnSpc>
            </a:pPr>
            <a:r>
              <a:rPr sz="1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STOP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89099" y="5289550"/>
            <a:ext cx="2250281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50"/>
              </a:lnSpc>
            </a:pPr>
            <a:r>
              <a:rPr sz="10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שלב 5 נפתח באחת משלוש התוצאות — כולן לגיטימיות.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62000" y="6007100"/>
            <a:ext cx="10668000" cy="6350"/>
          </a:xfrm>
          <a:prstGeom prst="rect">
            <a:avLst/>
          </a:prstGeom>
          <a:solidFill>
            <a:srgbClr val="C7C2B8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675098" y="6121400"/>
            <a:ext cx="1754902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0">
                <a:solidFill>
                  <a:srgbClr val="7B7970"/>
                </a:solidFill>
                <a:latin typeface="Arial"/>
                <a:ea typeface="Arial"/>
                <a:cs typeface="Arial"/>
              </a:rPr>
              <a:t>תהליך מחזורי — לא ליניארי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19101" y="6121400"/>
            <a:ext cx="545529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4C4A44"/>
                </a:solidFill>
                <a:latin typeface="Arial"/>
                <a:ea typeface="Arial"/>
                <a:cs typeface="Arial"/>
              </a:rPr>
              <a:t>⁦04 / 08⁩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452100" y="508000"/>
            <a:ext cx="977900" cy="2730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331037" y="552450"/>
            <a:ext cx="997363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20"/>
              </a:lnSpc>
            </a:pPr>
            <a:r>
              <a:rPr sz="1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דרכי עבודה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05000" y="901700"/>
            <a:ext cx="9525000" cy="4266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3360"/>
              </a:lnSpc>
            </a:pPr>
            <a:r>
              <a:rPr sz="2800" b="1">
                <a:solidFill>
                  <a:srgbClr val="12212F"/>
                </a:solidFill>
                <a:latin typeface="Times New Roman"/>
                <a:ea typeface="Times New Roman"/>
                <a:cs typeface="Times New Roman"/>
              </a:rPr>
              <a:t>שתי דרכים לבחון את ההזדמנות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76371" y="1828800"/>
            <a:ext cx="9353629" cy="2742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160"/>
              </a:lnSpc>
            </a:pPr>
            <a:r>
              <a:rPr sz="16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אותה מסגרת אסטרטגית. ההבדל הוא מי מבצע את המחקר — ומכאן עומק הראיות ומידת עצמאותן.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4900" y="2387600"/>
            <a:ext cx="5245100" cy="3327400"/>
          </a:xfrm>
          <a:prstGeom prst="rect">
            <a:avLst/>
          </a:prstGeom>
          <a:solidFill>
            <a:srgbClr val="FFFFFF"/>
          </a:solidFill>
          <a:ln w="6350">
            <a:solidFill>
              <a:srgbClr val="E3DFD7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191250" y="2393950"/>
            <a:ext cx="5232400" cy="41910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9050" y="2489200"/>
            <a:ext cx="48768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חלופה א׳ — ליווי אסטרטגי מונחה</a:t>
            </a:r>
          </a:p>
        </p:txBody>
      </p:sp>
      <p:sp>
        <p:nvSpPr>
          <p:cNvPr id="9" name="Rectangle 8"/>
          <p:cNvSpPr/>
          <p:nvPr/>
        </p:nvSpPr>
        <p:spPr>
          <a:xfrm>
            <a:off x="6369050" y="3427611"/>
            <a:ext cx="4876800" cy="6350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69050" y="2927350"/>
            <a:ext cx="4876800" cy="4113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אלון מוביל את המתודולוגיה, המסגרות, הניתוח והמודל הכלכלי; בן ואופק משלימים משימות בין המפגשים.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96350" y="3535561"/>
            <a:ext cx="23495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אלון מוביל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96350" y="3751461"/>
            <a:ext cx="2349500" cy="617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מתודולוגיה ומסגרות עבודה · אתגור הנחות · ניתוח ממצאים · מודל כלכלי · סינתזה ומסקנות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9050" y="3535561"/>
            <a:ext cx="23495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בן ואופק משלימים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9050" y="3751461"/>
            <a:ext cx="2349500" cy="617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נתונים פנימיים · איסוף מידע מהשוק · בדיקות שטח בהתאם להנחיות · משימות בין המפגשים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9050" y="4457402"/>
            <a:ext cx="4876800" cy="351730"/>
          </a:xfrm>
          <a:prstGeom prst="rect">
            <a:avLst/>
          </a:prstGeom>
          <a:solidFill>
            <a:srgbClr val="F8E7DD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20450" y="4457402"/>
            <a:ext cx="25400" cy="35173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83350" y="4527252"/>
            <a:ext cx="46228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12212F"/>
                </a:solidFill>
                <a:latin typeface="Arial"/>
                <a:ea typeface="Arial"/>
                <a:cs typeface="Arial"/>
              </a:rPr>
              <a:t>ראיונות עומק קריטיים יבוצעו בהובלתי לפי הצורך.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69050" y="4954389"/>
            <a:ext cx="4876800" cy="6350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36250" y="5068689"/>
            <a:ext cx="6096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B44A22"/>
                </a:solidFill>
                <a:latin typeface="Arial"/>
                <a:ea typeface="Arial"/>
                <a:cs typeface="Arial"/>
              </a:rPr>
              <a:t>יתרון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05204" y="5036939"/>
            <a:ext cx="4329446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תהליך חסכוני ומהיר יותר, הנשען על היכרות קיימת עם הענף.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69050" y="5306120"/>
            <a:ext cx="4876800" cy="6350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36250" y="5420420"/>
            <a:ext cx="6096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7B7970"/>
                </a:solidFill>
                <a:latin typeface="Arial"/>
                <a:ea typeface="Arial"/>
                <a:cs typeface="Arial"/>
              </a:rPr>
              <a:t>מגבלה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9050" y="5388670"/>
            <a:ext cx="41656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רמת התיקוף החיצוני והעצמאי נמוכה יותר.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2000" y="2387600"/>
            <a:ext cx="5245100" cy="3327400"/>
          </a:xfrm>
          <a:prstGeom prst="rect">
            <a:avLst/>
          </a:prstGeom>
          <a:solidFill>
            <a:srgbClr val="FFFFFF"/>
          </a:solidFill>
          <a:ln w="6350">
            <a:solidFill>
              <a:srgbClr val="E3DFD7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68350" y="2393950"/>
            <a:ext cx="5232400" cy="419100"/>
          </a:xfrm>
          <a:prstGeom prst="rect">
            <a:avLst/>
          </a:prstGeom>
          <a:solidFill>
            <a:srgbClr val="2E6A69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6150" y="2489200"/>
            <a:ext cx="48768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חלופה ב׳ — תהליך מחקר מלא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6150" y="3427611"/>
            <a:ext cx="4876800" cy="6350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6150" y="2927350"/>
            <a:ext cx="4876800" cy="4113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אלון מוביל את המחקר והניתוח מקצה לקצה — עיצוב המחקר, עבודת השטח והראיונות מול לקוחות ומומחים.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3450" y="3535561"/>
            <a:ext cx="23495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אלון מוביל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73450" y="3751461"/>
            <a:ext cx="2349500" cy="617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מיפוי שוק · ניתוח חלופות ומתחרים · עיצוב המחקר · ראיונות עומק · סינתזת ראיות · מודל כלכלי · מפת דרכים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6150" y="3535561"/>
            <a:ext cx="23495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בן ואופק מספקים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6150" y="3751461"/>
            <a:ext cx="2349500" cy="4113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גישה ונתונים פנימיים · הקשר ענפי · הפניות · שותפות בהחלטות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6150" y="4954389"/>
            <a:ext cx="4876800" cy="6350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13350" y="5068689"/>
            <a:ext cx="6096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2E6A69"/>
                </a:solidFill>
                <a:latin typeface="Arial"/>
                <a:ea typeface="Arial"/>
                <a:cs typeface="Arial"/>
              </a:rPr>
              <a:t>יתרון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6150" y="5036939"/>
            <a:ext cx="41656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רמת עומק, עצמאות ואיכות ראיות גבוהה יותר.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46150" y="5306120"/>
            <a:ext cx="4876800" cy="6350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13350" y="5420420"/>
            <a:ext cx="6096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7B7970"/>
                </a:solidFill>
                <a:latin typeface="Arial"/>
                <a:ea typeface="Arial"/>
                <a:cs typeface="Arial"/>
              </a:rPr>
              <a:t>מגבלה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6150" y="5388670"/>
            <a:ext cx="41656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22384A"/>
                </a:solidFill>
                <a:latin typeface="Arial"/>
                <a:ea typeface="Arial"/>
                <a:cs typeface="Arial"/>
              </a:rPr>
              <a:t>היקף עבודה גדול יותר, ולכן גם לוח זמנים ארוך יותר.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62000" y="6007100"/>
            <a:ext cx="10668000" cy="6350"/>
          </a:xfrm>
          <a:prstGeom prst="rect">
            <a:avLst/>
          </a:prstGeom>
          <a:solidFill>
            <a:srgbClr val="C7C2B8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67392" y="6121400"/>
            <a:ext cx="2962608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0">
                <a:solidFill>
                  <a:srgbClr val="7B7970"/>
                </a:solidFill>
                <a:latin typeface="Arial"/>
                <a:ea typeface="Arial"/>
                <a:cs typeface="Arial"/>
              </a:rPr>
              <a:t>אותה מסגרת אסטרטגית · הבדל בעומק התיקוף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9101" y="6121400"/>
            <a:ext cx="545529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4C4A44"/>
                </a:solidFill>
                <a:latin typeface="Arial"/>
                <a:ea typeface="Arial"/>
                <a:cs typeface="Arial"/>
              </a:rPr>
              <a:t>⁦05 / 08⁩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96600" y="508000"/>
            <a:ext cx="533400" cy="2730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77106" y="552450"/>
            <a:ext cx="451295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20"/>
              </a:lnSpc>
            </a:pPr>
            <a:r>
              <a:rPr sz="1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לדיון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05000" y="901700"/>
            <a:ext cx="9525000" cy="4266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3360"/>
              </a:lnSpc>
            </a:pPr>
            <a:r>
              <a:rPr sz="2800" b="1">
                <a:solidFill>
                  <a:srgbClr val="12212F"/>
                </a:solidFill>
                <a:latin typeface="Times New Roman"/>
                <a:ea typeface="Times New Roman"/>
                <a:cs typeface="Times New Roman"/>
              </a:rPr>
              <a:t>מה חשוב שנבין היום?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94000" y="1828800"/>
            <a:ext cx="8636000" cy="2742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160"/>
              </a:lnSpc>
            </a:pPr>
            <a:r>
              <a:rPr sz="16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חמש שאלות שיקבעו את מטרת העבודה ואת רמת הבדיקה המתאימה.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074400" y="2542480"/>
            <a:ext cx="355600" cy="3556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7C2B8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87100" y="2555180"/>
            <a:ext cx="3302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300"/>
              </a:lnSpc>
            </a:pPr>
            <a:r>
              <a:rPr sz="1300" b="1">
                <a:solidFill>
                  <a:srgbClr val="41586C"/>
                </a:solidFill>
                <a:latin typeface="Times New Roman"/>
                <a:ea typeface="Times New Roman"/>
                <a:cs typeface="Times New Roman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2608858"/>
            <a:ext cx="10134600" cy="2228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5"/>
              </a:lnSpc>
            </a:pPr>
            <a:r>
              <a:rPr sz="1300" b="0">
                <a:solidFill>
                  <a:srgbClr val="12212F"/>
                </a:solidFill>
                <a:latin typeface="Arial"/>
                <a:ea typeface="Arial"/>
                <a:cs typeface="Arial"/>
              </a:rPr>
              <a:t>מה בדיוק במצב הקיים גרם לכם לומר: "צריך לבנות לזה פתרון אחר"?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074400" y="3207941"/>
            <a:ext cx="355600" cy="3556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7C2B8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87100" y="3220641"/>
            <a:ext cx="3302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300"/>
              </a:lnSpc>
            </a:pPr>
            <a:r>
              <a:rPr sz="1300" b="1">
                <a:solidFill>
                  <a:srgbClr val="41586C"/>
                </a:solidFill>
                <a:latin typeface="Times New Roman"/>
                <a:ea typeface="Times New Roman"/>
                <a:cs typeface="Times New Roman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3274318"/>
            <a:ext cx="10134600" cy="2228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5"/>
              </a:lnSpc>
            </a:pPr>
            <a:r>
              <a:rPr sz="1300" b="0">
                <a:solidFill>
                  <a:srgbClr val="12212F"/>
                </a:solidFill>
                <a:latin typeface="Arial"/>
                <a:ea typeface="Arial"/>
                <a:cs typeface="Arial"/>
              </a:rPr>
              <a:t>למי אתם חושבים שהמוצר הראשון מיועד — ומה גורם לכם לחשוב שזה הלקוח הנכון?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074400" y="3873401"/>
            <a:ext cx="355600" cy="3556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7C2B8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87100" y="3886101"/>
            <a:ext cx="3302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300"/>
              </a:lnSpc>
            </a:pPr>
            <a:r>
              <a:rPr sz="1300" b="1">
                <a:solidFill>
                  <a:srgbClr val="41586C"/>
                </a:solidFill>
                <a:latin typeface="Times New Roman"/>
                <a:ea typeface="Times New Roman"/>
                <a:cs typeface="Times New Roman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3939778"/>
            <a:ext cx="10134600" cy="2228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5"/>
              </a:lnSpc>
            </a:pPr>
            <a:r>
              <a:rPr sz="1300" b="0">
                <a:solidFill>
                  <a:srgbClr val="12212F"/>
                </a:solidFill>
                <a:latin typeface="Arial"/>
                <a:ea typeface="Arial"/>
                <a:cs typeface="Arial"/>
              </a:rPr>
              <a:t>מה כבר עשיתם עד היום: אפיון, שיחות עם לקוחות, נתונים, הצעות פיתוח או בדיקות אחרות?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074400" y="4538861"/>
            <a:ext cx="355600" cy="3556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7C2B8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87100" y="4551561"/>
            <a:ext cx="3302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300"/>
              </a:lnSpc>
            </a:pPr>
            <a:r>
              <a:rPr sz="1300" b="1">
                <a:solidFill>
                  <a:srgbClr val="41586C"/>
                </a:solidFill>
                <a:latin typeface="Times New Roman"/>
                <a:ea typeface="Times New Roman"/>
                <a:cs typeface="Times New Roman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" y="4605238"/>
            <a:ext cx="10134600" cy="2228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5"/>
              </a:lnSpc>
            </a:pPr>
            <a:r>
              <a:rPr sz="1300" b="0">
                <a:solidFill>
                  <a:srgbClr val="12212F"/>
                </a:solidFill>
                <a:latin typeface="Arial"/>
                <a:ea typeface="Arial"/>
                <a:cs typeface="Arial"/>
              </a:rPr>
              <a:t>מה אתם רוצים שהמיזם הזה יהיה בעוד 3–5 שנים — ומה מבחינתכם ייחשב הצלחה?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4200" y="5049441"/>
            <a:ext cx="11023600" cy="665559"/>
          </a:xfrm>
          <a:prstGeom prst="rect">
            <a:avLst/>
          </a:prstGeom>
          <a:solidFill>
            <a:srgbClr val="F8E7DD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074400" y="5204420"/>
            <a:ext cx="355600" cy="355600"/>
          </a:xfrm>
          <a:prstGeom prst="roundRect">
            <a:avLst>
              <a:gd name="adj" fmla="val 50000"/>
            </a:avLst>
          </a:prstGeom>
          <a:solidFill>
            <a:srgbClr val="B44A22"/>
          </a:solidFill>
          <a:ln w="12700">
            <a:solidFill>
              <a:srgbClr val="B44A22"/>
            </a:solidFill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087100" y="5217120"/>
            <a:ext cx="330200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1300"/>
              </a:lnSpc>
            </a:pPr>
            <a:r>
              <a:rPr sz="13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5270798"/>
            <a:ext cx="10134600" cy="2228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5"/>
              </a:lnSpc>
            </a:pPr>
            <a:r>
              <a:rPr sz="13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מה הייתם רוצים לדעת בסוף תהליך הבדיקה כדי להרגיש בנוח לקבל החלטה על ההשקעה הבאה?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2000" y="6007100"/>
            <a:ext cx="10668000" cy="6350"/>
          </a:xfrm>
          <a:prstGeom prst="rect">
            <a:avLst/>
          </a:prstGeom>
          <a:solidFill>
            <a:srgbClr val="C7C2B8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20598" y="6121400"/>
            <a:ext cx="1309402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0">
                <a:solidFill>
                  <a:srgbClr val="7B7970"/>
                </a:solidFill>
                <a:latin typeface="Arial"/>
                <a:ea typeface="Arial"/>
                <a:cs typeface="Arial"/>
              </a:rPr>
              <a:t>פגישת היכרות ומיפוי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9101" y="6121400"/>
            <a:ext cx="545529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4C4A44"/>
                </a:solidFill>
                <a:latin typeface="Arial"/>
                <a:ea typeface="Arial"/>
                <a:cs typeface="Arial"/>
              </a:rPr>
              <a:t>⁦06 / 08⁩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374610" y="508000"/>
            <a:ext cx="1055390" cy="2730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08244" y="552450"/>
            <a:ext cx="1120156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20"/>
              </a:lnSpc>
            </a:pPr>
            <a:r>
              <a:rPr sz="1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תעריף והיקף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05000" y="901700"/>
            <a:ext cx="9525000" cy="4266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3360"/>
              </a:lnSpc>
            </a:pPr>
            <a:r>
              <a:rPr sz="2800" b="1">
                <a:solidFill>
                  <a:srgbClr val="12212F"/>
                </a:solidFill>
                <a:latin typeface="Times New Roman"/>
                <a:ea typeface="Times New Roman"/>
                <a:cs typeface="Times New Roman"/>
              </a:rPr>
              <a:t>מסגרת התקשרות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94000" y="1828800"/>
            <a:ext cx="8636000" cy="2742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160"/>
              </a:lnSpc>
            </a:pPr>
            <a:r>
              <a:rPr sz="16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תמחור שעתי שקוף. היקף העבודה נגזר מהמסלול שנבחר ומחלוקת המשימות בין הצדדים.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2387600"/>
            <a:ext cx="10668000" cy="942280"/>
          </a:xfrm>
          <a:prstGeom prst="rect">
            <a:avLst/>
          </a:prstGeom>
          <a:solidFill>
            <a:srgbClr val="12212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58459" y="2889250"/>
            <a:ext cx="555641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B9D2CE"/>
                </a:solidFill>
                <a:latin typeface="Arial"/>
                <a:ea typeface="Arial"/>
                <a:cs typeface="Arial"/>
              </a:rPr>
              <a:t>תעריף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83750" y="2552700"/>
            <a:ext cx="989584" cy="586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4620"/>
              </a:lnSpc>
            </a:pPr>
            <a:r>
              <a:rPr sz="44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450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88364" y="2800350"/>
            <a:ext cx="206486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160"/>
              </a:lnSpc>
            </a:pPr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32682" y="2832100"/>
            <a:ext cx="727218" cy="2349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80"/>
              </a:lnSpc>
            </a:pPr>
            <a:r>
              <a:rPr sz="1400" b="1">
                <a:solidFill>
                  <a:srgbClr val="E6C5B2"/>
                </a:solidFill>
                <a:latin typeface="Arial"/>
                <a:ea typeface="Arial"/>
                <a:cs typeface="Arial"/>
              </a:rPr>
              <a:t>+ מע"מ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60414" y="2844800"/>
            <a:ext cx="913686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560"/>
              </a:lnSpc>
            </a:pPr>
            <a:r>
              <a:rPr sz="13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לשעת ייעוץ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108" y="2857500"/>
            <a:ext cx="2122392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440"/>
              </a:lnSpc>
            </a:pPr>
            <a:r>
              <a:rPr sz="12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התעריף זהה בשני המסלולים.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84900" y="3494980"/>
            <a:ext cx="5245100" cy="16352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4900" y="3494980"/>
            <a:ext cx="5245100" cy="317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84900" y="5123855"/>
            <a:ext cx="5245100" cy="6350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84900" y="3494980"/>
            <a:ext cx="6350" cy="1635224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23650" y="3494980"/>
            <a:ext cx="6350" cy="1635224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69050" y="3990280"/>
            <a:ext cx="4876800" cy="6350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9050" y="3679130"/>
            <a:ext cx="48768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4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חלופה א׳ — ליווי אסטרטגי מונחה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69050" y="4098230"/>
            <a:ext cx="48768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7B7970"/>
                </a:solidFill>
                <a:latin typeface="Arial"/>
                <a:ea typeface="Arial"/>
                <a:cs typeface="Arial"/>
              </a:rPr>
              <a:t>היקף ראשוני משוער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9050" y="4301430"/>
            <a:ext cx="4876800" cy="285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250"/>
              </a:lnSpc>
            </a:pPr>
            <a:r>
              <a:rPr sz="1800" b="1">
                <a:solidFill>
                  <a:srgbClr val="B44A22"/>
                </a:solidFill>
                <a:latin typeface="Times New Roman"/>
                <a:ea typeface="Times New Roman"/>
                <a:cs typeface="Times New Roman"/>
              </a:rPr>
              <a:t>כ־</a:t>
            </a:r>
            <a:r>
              <a:rPr sz="1800" b="1">
                <a:solidFill>
                  <a:srgbClr val="B44A22"/>
                </a:solidFill>
                <a:latin typeface="Times New Roman"/>
                <a:ea typeface="Times New Roman"/>
                <a:cs typeface="Times New Roman"/>
              </a:rPr>
              <a:t>⁦20–40⁩</a:t>
            </a:r>
            <a:r>
              <a:rPr sz="1800" b="1">
                <a:solidFill>
                  <a:srgbClr val="B44A22"/>
                </a:solidFill>
                <a:latin typeface="Times New Roman"/>
                <a:ea typeface="Times New Roman"/>
                <a:cs typeface="Times New Roman"/>
              </a:rPr>
              <a:t> שעות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9050" y="4765774"/>
            <a:ext cx="48768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טווח אינדיקטיבי בלבד — תלוי בהגדרת ההיקף ובחלוקת המשימות.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2000" y="3494980"/>
            <a:ext cx="5245100" cy="16352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62000" y="3494980"/>
            <a:ext cx="5245100" cy="31750"/>
          </a:xfrm>
          <a:prstGeom prst="rect">
            <a:avLst/>
          </a:prstGeom>
          <a:solidFill>
            <a:srgbClr val="2E6A69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62000" y="5123855"/>
            <a:ext cx="5245100" cy="6350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2000" y="3494980"/>
            <a:ext cx="6350" cy="1635224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000750" y="3494980"/>
            <a:ext cx="6350" cy="1635224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46150" y="3990280"/>
            <a:ext cx="4876800" cy="6350"/>
          </a:xfrm>
          <a:prstGeom prst="rect">
            <a:avLst/>
          </a:prstGeom>
          <a:solidFill>
            <a:srgbClr val="E3DFD7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6150" y="3679130"/>
            <a:ext cx="48768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4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חלופה ב׳ — תהליך מחקר מלא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150" y="4098230"/>
            <a:ext cx="48768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7B7970"/>
                </a:solidFill>
                <a:latin typeface="Arial"/>
                <a:ea typeface="Arial"/>
                <a:cs typeface="Arial"/>
              </a:rPr>
              <a:t>היקף העבודה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6150" y="4301430"/>
            <a:ext cx="4876800" cy="222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0"/>
              </a:lnSpc>
            </a:pPr>
            <a:r>
              <a:rPr sz="1400" b="1">
                <a:solidFill>
                  <a:srgbClr val="2E6A69"/>
                </a:solidFill>
                <a:latin typeface="Times New Roman"/>
                <a:ea typeface="Times New Roman"/>
                <a:cs typeface="Times New Roman"/>
              </a:rPr>
              <a:t>יוגדר לאחר פגישת המיפוי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6150" y="4765774"/>
            <a:ext cx="4876800" cy="205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620"/>
              </a:lnSpc>
            </a:pPr>
            <a:r>
              <a:rPr sz="12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בהתאם לעומק המחקר, מספר הסגמנטים והיקף עבודת השטח.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62000" y="5295305"/>
            <a:ext cx="10668000" cy="419695"/>
          </a:xfrm>
          <a:prstGeom prst="rect">
            <a:avLst/>
          </a:prstGeom>
          <a:solidFill>
            <a:srgbClr val="F8E7DD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398250" y="5295305"/>
            <a:ext cx="31750" cy="419695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7100" y="5390555"/>
            <a:ext cx="10306050" cy="2228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755"/>
              </a:lnSpc>
            </a:pPr>
            <a:r>
              <a:rPr sz="1300" b="0">
                <a:solidFill>
                  <a:srgbClr val="12212F"/>
                </a:solidFill>
                <a:latin typeface="Arial"/>
                <a:ea typeface="Arial"/>
                <a:cs typeface="Arial"/>
              </a:rPr>
              <a:t>לאחר הפגישה ניתן יהיה לגבש </a:t>
            </a:r>
            <a:r>
              <a:rPr sz="1300" b="0">
                <a:solidFill>
                  <a:srgbClr val="12212F"/>
                </a:solidFill>
                <a:latin typeface="Arial"/>
                <a:ea typeface="Arial"/>
                <a:cs typeface="Arial"/>
              </a:rPr>
              <a:t>⁦Scope⁩</a:t>
            </a:r>
            <a:r>
              <a:rPr sz="1300" b="0">
                <a:solidFill>
                  <a:srgbClr val="12212F"/>
                </a:solidFill>
                <a:latin typeface="Arial"/>
                <a:ea typeface="Arial"/>
                <a:cs typeface="Arial"/>
              </a:rPr>
              <a:t>, הערכת שעות והצעת עבודה מסודרת.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62000" y="6007100"/>
            <a:ext cx="10668000" cy="6350"/>
          </a:xfrm>
          <a:prstGeom prst="rect">
            <a:avLst/>
          </a:prstGeom>
          <a:solidFill>
            <a:srgbClr val="C7C2B8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14509" y="6121400"/>
            <a:ext cx="2915491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0">
                <a:solidFill>
                  <a:srgbClr val="7B7970"/>
                </a:solidFill>
                <a:latin typeface="Arial"/>
                <a:ea typeface="Arial"/>
                <a:cs typeface="Arial"/>
              </a:rPr>
              <a:t>תעריף שעתי · היקף ייקבע לאחר פגישת המיפוי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9101" y="6121400"/>
            <a:ext cx="545529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4C4A44"/>
                </a:solidFill>
                <a:latin typeface="Arial"/>
                <a:ea typeface="Arial"/>
                <a:cs typeface="Arial"/>
              </a:rPr>
              <a:t>⁦07 / 08⁩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323810" y="508000"/>
            <a:ext cx="1106190" cy="27305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52793" y="552450"/>
            <a:ext cx="1175607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320"/>
              </a:lnSpc>
            </a:pPr>
            <a:r>
              <a:rPr sz="1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צעדים הבאים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05000" y="901700"/>
            <a:ext cx="9525000" cy="4266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3360"/>
              </a:lnSpc>
            </a:pPr>
            <a:r>
              <a:rPr sz="2800" b="1">
                <a:solidFill>
                  <a:srgbClr val="12212F"/>
                </a:solidFill>
                <a:latin typeface="Times New Roman"/>
                <a:ea typeface="Times New Roman"/>
                <a:cs typeface="Times New Roman"/>
              </a:rPr>
              <a:t>איך מתקדמים מכאן?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94000" y="1828800"/>
            <a:ext cx="8636000" cy="2742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160"/>
              </a:lnSpc>
            </a:pPr>
            <a:r>
              <a:rPr sz="1600" b="0">
                <a:solidFill>
                  <a:srgbClr val="4C4A44"/>
                </a:solidFill>
                <a:latin typeface="Arial"/>
                <a:ea typeface="Arial"/>
                <a:cs typeface="Arial"/>
              </a:rPr>
              <a:t>ארבעה צעדים מכאן לשלב הבדיקה.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7775" y="3003550"/>
            <a:ext cx="2562225" cy="2095500"/>
          </a:xfrm>
          <a:prstGeom prst="rect">
            <a:avLst/>
          </a:prstGeom>
          <a:solidFill>
            <a:srgbClr val="F8E7DD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80700" y="3181350"/>
            <a:ext cx="609600" cy="60960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80700" y="3181350"/>
            <a:ext cx="60960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2800"/>
              </a:lnSpc>
            </a:pPr>
            <a:r>
              <a:rPr sz="28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7475" y="4324350"/>
            <a:ext cx="2282825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250"/>
              </a:lnSpc>
            </a:pPr>
            <a:r>
              <a:rPr sz="18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מחדדים את מטרת העבודה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65850" y="3003550"/>
            <a:ext cx="2562225" cy="2095500"/>
          </a:xfrm>
          <a:prstGeom prst="rect">
            <a:avLst/>
          </a:prstGeom>
          <a:solidFill>
            <a:srgbClr val="F8E7DD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78775" y="3181350"/>
            <a:ext cx="609600" cy="60960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78775" y="3181350"/>
            <a:ext cx="60960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2800"/>
              </a:lnSpc>
            </a:pPr>
            <a:r>
              <a:rPr sz="28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5550" y="4324350"/>
            <a:ext cx="2282825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250"/>
              </a:lnSpc>
            </a:pPr>
            <a:r>
              <a:rPr sz="18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בוחרים את מודל העבודה המתאים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63925" y="3003550"/>
            <a:ext cx="2562225" cy="2095500"/>
          </a:xfrm>
          <a:prstGeom prst="rect">
            <a:avLst/>
          </a:prstGeom>
          <a:solidFill>
            <a:srgbClr val="F8E7DD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276850" y="3181350"/>
            <a:ext cx="609600" cy="609600"/>
          </a:xfrm>
          <a:prstGeom prst="rect">
            <a:avLst/>
          </a:prstGeom>
          <a:solidFill>
            <a:srgbClr val="B44A22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76850" y="3181350"/>
            <a:ext cx="60960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2800"/>
              </a:lnSpc>
            </a:pPr>
            <a:r>
              <a:rPr sz="28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3625" y="4324350"/>
            <a:ext cx="2282825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250"/>
              </a:lnSpc>
            </a:pPr>
            <a:r>
              <a:rPr sz="18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מגדירים </a:t>
            </a:r>
            <a:r>
              <a:rPr sz="18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⁦Scope⁩</a:t>
            </a:r>
            <a:r>
              <a:rPr sz="1800" b="1">
                <a:solidFill>
                  <a:srgbClr val="12212F"/>
                </a:solidFill>
                <a:latin typeface="Arial"/>
                <a:ea typeface="Arial"/>
                <a:cs typeface="Arial"/>
              </a:rPr>
              <a:t>, תוצרים והערכת שעות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2000" y="3003550"/>
            <a:ext cx="2562225" cy="2095500"/>
          </a:xfrm>
          <a:prstGeom prst="rect">
            <a:avLst/>
          </a:prstGeom>
          <a:solidFill>
            <a:srgbClr val="2E6A69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74925" y="3181350"/>
            <a:ext cx="609600" cy="609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74925" y="3181350"/>
            <a:ext cx="60960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rtl="0">
              <a:lnSpc>
                <a:spcPts val="2800"/>
              </a:lnSpc>
            </a:pPr>
            <a:r>
              <a:rPr sz="2800" b="1">
                <a:solidFill>
                  <a:srgbClr val="2E6A69"/>
                </a:solidFill>
                <a:latin typeface="Times New Roman"/>
                <a:ea typeface="Times New Roman"/>
                <a:cs typeface="Times New Roman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1700" y="4610100"/>
            <a:ext cx="2282825" cy="285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225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יוצאים לשלב הבדיקה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2000" y="6007100"/>
            <a:ext cx="10668000" cy="6350"/>
          </a:xfrm>
          <a:prstGeom prst="rect">
            <a:avLst/>
          </a:prstGeom>
          <a:solidFill>
            <a:srgbClr val="C7C2B8"/>
          </a:solidFill>
          <a:ln>
            <a:noFill/>
          </a:ln>
          <a:effectLst/>
        </p:spPr>
        <p:txBody>
          <a:bodyPr rtlCol="0" anchor="ctr" wrap="none">
            <a:noAutofit/>
          </a:bodyPr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20598" y="6121400"/>
            <a:ext cx="1309402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0">
                <a:solidFill>
                  <a:srgbClr val="7B7970"/>
                </a:solidFill>
                <a:latin typeface="Arial"/>
                <a:ea typeface="Arial"/>
                <a:cs typeface="Arial"/>
              </a:rPr>
              <a:t>פגישת היכרות ומיפוי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9101" y="6121400"/>
            <a:ext cx="545529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rtl="1">
              <a:lnSpc>
                <a:spcPts val="1200"/>
              </a:lnSpc>
            </a:pPr>
            <a:r>
              <a:rPr sz="1000" b="1">
                <a:solidFill>
                  <a:srgbClr val="4C4A44"/>
                </a:solidFill>
                <a:latin typeface="Arial"/>
                <a:ea typeface="Arial"/>
                <a:cs typeface="Arial"/>
              </a:rPr>
              <a:t>⁦08 / 08⁩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