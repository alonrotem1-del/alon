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58800" cy="40640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64000"/>
            <a:ext cx="558800" cy="279400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9500" y="508000"/>
            <a:ext cx="1460500" cy="2984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40754" y="552450"/>
            <a:ext cx="1487646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פגישת היכרות ומיפוי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1270000"/>
            <a:ext cx="9906000" cy="636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5016"/>
              </a:lnSpc>
            </a:pPr>
            <a:r>
              <a:rPr sz="44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מרעיון למיזם בר־בחינה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5000" y="2184400"/>
            <a:ext cx="8255000" cy="284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240"/>
              </a:lnSpc>
            </a:pPr>
            <a:r>
              <a:rPr sz="16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בחינת ההזדמנות, תיקוף ההנחות והגדרת הדרך קדימה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0" y="2717800"/>
            <a:ext cx="8382000" cy="531416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98250" y="2717800"/>
            <a:ext cx="31750" cy="531416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604" y="2857500"/>
            <a:ext cx="9040146" cy="2393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885"/>
              </a:lnSpc>
            </a:pPr>
            <a:r>
              <a:rPr sz="1300" b="0">
                <a:solidFill>
                  <a:srgbClr val="12212F"/>
                </a:solidFill>
                <a:latin typeface="Arial"/>
                <a:ea typeface="Arial"/>
                <a:cs typeface="Arial"/>
              </a:rPr>
              <a:t>המטרה היא לא להחליט היום אם לפתח — אלא להבין מה צריך להיות נכון כדי שהמיזם יהיה כדאי, ואיך נכון לבדוק זאת.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1133" y="4445000"/>
            <a:ext cx="3318867" cy="381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1133" y="4610100"/>
            <a:ext cx="3318867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היום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1133" y="4845050"/>
            <a:ext cx="3318867" cy="2742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רעיון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1133" y="5195491"/>
            <a:ext cx="3318867" cy="213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ניסיון ענפי והנחות עבודה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6566" y="4445000"/>
            <a:ext cx="3318966" cy="381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6566" y="4610100"/>
            <a:ext cx="3318966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התהליך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66" y="4845050"/>
            <a:ext cx="3318966" cy="2742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בחינה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66" y="5195491"/>
            <a:ext cx="3318966" cy="213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תיקוף מול שוק, לקוחות וכלכלה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4445000"/>
            <a:ext cx="3318966" cy="3810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4610100"/>
            <a:ext cx="3318966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2E6A69"/>
                </a:solidFill>
                <a:latin typeface="Arial"/>
                <a:ea typeface="Arial"/>
                <a:cs typeface="Arial"/>
              </a:rPr>
              <a:t>התוצר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845050"/>
            <a:ext cx="3318966" cy="2742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החלטה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5195491"/>
            <a:ext cx="3318966" cy="213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מבוססת ראיות, עם תוכנית פעולה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6007100"/>
            <a:ext cx="10668000" cy="635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1805" y="6121400"/>
            <a:ext cx="2318195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0">
                <a:solidFill>
                  <a:srgbClr val="7B7970"/>
                </a:solidFill>
                <a:latin typeface="Arial"/>
                <a:ea typeface="Arial"/>
                <a:cs typeface="Arial"/>
              </a:rPr>
              <a:t>אלון רותם · בן · אופק · ספטמבר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846" y="6121400"/>
            <a:ext cx="485854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4C4A44"/>
                </a:solidFill>
                <a:latin typeface="Arial"/>
                <a:ea typeface="Arial"/>
                <a:cs typeface="Arial"/>
              </a:rPr>
              <a:t>⁦01 / 08⁩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25100" y="508000"/>
            <a:ext cx="1104900" cy="2984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09800" y="552450"/>
            <a:ext cx="11186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מי מלווה אתכם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901700"/>
            <a:ext cx="9525000" cy="426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3360"/>
              </a:lnSpc>
            </a:pPr>
            <a:r>
              <a:rPr sz="2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נעים להכיר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0" y="2387600"/>
            <a:ext cx="1905000" cy="33274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25000" y="2387600"/>
            <a:ext cx="1905000" cy="381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77400" y="2578100"/>
            <a:ext cx="1600200" cy="177800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0" y="2578100"/>
            <a:ext cx="1600200" cy="177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77400" y="4495800"/>
            <a:ext cx="1600200" cy="2742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אלון רותם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400" y="4820841"/>
            <a:ext cx="16002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יועץ אסטרטגי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400" y="5026521"/>
            <a:ext cx="16002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מנהל ב־</a:t>
            </a:r>
            <a:r>
              <a:rPr sz="12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⁦BDO⁩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55050" y="2387600"/>
            <a:ext cx="488950" cy="2540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464" y="2419350"/>
            <a:ext cx="380286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ניסיון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730500"/>
            <a:ext cx="83820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כ־10 שנים בפרויקטים אסטרטגיים מקומיים ובינלאומיים: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86850" y="3075880"/>
            <a:ext cx="57150" cy="571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3966" y="3012380"/>
            <a:ext cx="2491284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אסטרטגיית צמיחה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0916" y="3075880"/>
            <a:ext cx="57150" cy="571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8033" y="3012380"/>
            <a:ext cx="2491284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בדיקות כדאיות וכניסה לשווקים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4983" y="3075880"/>
            <a:ext cx="57150" cy="571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3012380"/>
            <a:ext cx="2491383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מודלים עסקיים וכלכליים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6850" y="3331071"/>
            <a:ext cx="57150" cy="571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3966" y="3267571"/>
            <a:ext cx="2491284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אסטרטגיה דיגיטלית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0916" y="3331071"/>
            <a:ext cx="57150" cy="571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8033" y="3267571"/>
            <a:ext cx="2491284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תרגום תובנות לתוכנית פעולה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3450" y="3822005"/>
            <a:ext cx="590550" cy="25400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6781" y="3853755"/>
            <a:ext cx="511969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השכלה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4164905"/>
            <a:ext cx="838200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⁦M.B.A⁩</a:t>
            </a: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 — אוניברסיטת תל אביב, בהצטיינות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407396"/>
            <a:ext cx="838200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⁦B.A⁩</a:t>
            </a: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 מנהל עסקים — המרכז הבינתחומי הרצליה, בהצטיינות יתרה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7350" y="4961830"/>
            <a:ext cx="1136650" cy="254000"/>
          </a:xfrm>
          <a:prstGeom prst="rect">
            <a:avLst/>
          </a:prstGeom>
          <a:solidFill>
            <a:srgbClr val="22384A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9923" y="4993580"/>
            <a:ext cx="1158827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פרויקטים לדוגמה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" y="5304730"/>
            <a:ext cx="8382000" cy="4101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12250" y="5304730"/>
            <a:ext cx="31750" cy="41017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1700" y="5399980"/>
            <a:ext cx="8070850" cy="213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אלטשולר שחם · כללית · ענבי טלי · מטבחי רגבה · פלסן סאסא · מבושלת · אסטרטגיית דיגיטל לתמה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000" y="6007100"/>
            <a:ext cx="10668000" cy="635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6328" y="6121400"/>
            <a:ext cx="1693672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0">
                <a:solidFill>
                  <a:srgbClr val="7B7970"/>
                </a:solidFill>
                <a:latin typeface="Arial"/>
                <a:ea typeface="Arial"/>
                <a:cs typeface="Arial"/>
              </a:rPr>
              <a:t>רקע מקצועי · התפקיד בליווי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846" y="6121400"/>
            <a:ext cx="485854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4C4A44"/>
                </a:solidFill>
                <a:latin typeface="Arial"/>
                <a:ea typeface="Arial"/>
                <a:cs typeface="Arial"/>
              </a:rPr>
              <a:t>⁦02 / 08⁩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90200" y="508000"/>
            <a:ext cx="939800" cy="2984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00046" y="552450"/>
            <a:ext cx="928354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מסגרת הדיון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176" y="901700"/>
            <a:ext cx="10908824" cy="426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3360"/>
              </a:lnSpc>
            </a:pPr>
            <a:r>
              <a:rPr sz="2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לפני שבונים מערכת — יש כמה שאלות שצריכות לקבל תשובה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0" y="1828800"/>
            <a:ext cx="8636000" cy="2742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אלה לא מסקנות. אלה התחומים שהתהליך אמור לתת עליהם תשובה מבוססת.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2387600"/>
            <a:ext cx="11023600" cy="66546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74400" y="2454275"/>
            <a:ext cx="355600" cy="3556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74400" y="2454275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14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67800" y="2517775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0"/>
              </a:lnSpc>
            </a:pPr>
            <a:r>
              <a:rPr sz="14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שוק ולקוח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530475"/>
            <a:ext cx="81407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מי הלקוח הראשון האמיתי — </a:t>
            </a: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⁦DJ⁩</a:t>
            </a: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 עצמאי, חברת </a:t>
            </a: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⁦DJs⁩</a:t>
            </a: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, או סגמנט אחר?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80605"/>
            <a:ext cx="81407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כמה גדול ונגיש השוק הרלוונטי?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74400" y="3207941"/>
            <a:ext cx="355600" cy="3556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74400" y="3207941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14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7800" y="3271441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0"/>
              </a:lnSpc>
            </a:pPr>
            <a:r>
              <a:rPr sz="14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הבעיה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284141"/>
            <a:ext cx="81407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איזו בעיה כואבת ותכופה מספיק כדי להצדיק מעבר לפתרון חדש?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" y="3718520"/>
            <a:ext cx="11023600" cy="66546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74400" y="3785195"/>
            <a:ext cx="355600" cy="3556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74400" y="3785195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14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7800" y="3848695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0"/>
              </a:lnSpc>
            </a:pPr>
            <a:r>
              <a:rPr sz="14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מוצר ובידול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861395"/>
            <a:ext cx="81407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מה המוצר הראשון באמת צריך לפתור?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111526"/>
            <a:ext cx="81407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מדוע יהיה עדיף על </a:t>
            </a: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⁦iPlan⁩</a:t>
            </a: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 או על החלופות הקיימות?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74400" y="4450655"/>
            <a:ext cx="355600" cy="35560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74400" y="4450655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14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7800" y="4514155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0"/>
              </a:lnSpc>
            </a:pPr>
            <a:r>
              <a:rPr sz="14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כלכלה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4526855"/>
            <a:ext cx="81407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מי משלם, וכמה ריאלי שישלם?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776986"/>
            <a:ext cx="81407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איזה היקף פעילות נדרש כדי שזה יהיה עסק אטרקטיבי?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5049441"/>
            <a:ext cx="11023600" cy="665559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074400" y="5116215"/>
            <a:ext cx="355600" cy="35560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74400" y="5116215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14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7800" y="5179715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0"/>
              </a:lnSpc>
            </a:pPr>
            <a:r>
              <a:rPr sz="14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דרך לביצוע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5192415"/>
            <a:ext cx="81407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מה צריך להיות סגור לפני שמתחילים לפתח?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5442545"/>
            <a:ext cx="81407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מי מוביל, מהי חלוקת התפקידים, אילו משאבים נדרשים ומהן אבני הדרך הנדרשות?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2000" y="6007100"/>
            <a:ext cx="10668000" cy="635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4308" y="6121400"/>
            <a:ext cx="1855692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0">
                <a:solidFill>
                  <a:srgbClr val="7B7970"/>
                </a:solidFill>
                <a:latin typeface="Arial"/>
                <a:ea typeface="Arial"/>
                <a:cs typeface="Arial"/>
              </a:rPr>
              <a:t>תחומים לתיקוף — לא מסקנות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846" y="6121400"/>
            <a:ext cx="485854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4C4A44"/>
                </a:solidFill>
                <a:latin typeface="Arial"/>
                <a:ea typeface="Arial"/>
                <a:cs typeface="Arial"/>
              </a:rPr>
              <a:t>⁦03 / 08⁩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69600" y="508000"/>
            <a:ext cx="660400" cy="2984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30087" y="552450"/>
            <a:ext cx="598313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התהליך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901700"/>
            <a:ext cx="9525000" cy="426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3360"/>
              </a:lnSpc>
            </a:pPr>
            <a:r>
              <a:rPr sz="2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המתודולוגיה: מהנחות עבודה להחלטה עסקית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0005" y="1828800"/>
            <a:ext cx="8719995" cy="2742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התהליך אינו ליניארי — ממצאים מהשוק חוזרים ומחדדים את ההנחות ואת הגדרת ההזדמנות.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420" y="2387600"/>
            <a:ext cx="2072580" cy="2658467"/>
          </a:xfrm>
          <a:prstGeom prst="rect">
            <a:avLst/>
          </a:prstGeom>
          <a:solidFill>
            <a:srgbClr val="FFFFFF"/>
          </a:solidFill>
          <a:ln w="6350">
            <a:solidFill>
              <a:srgbClr val="E3DFD7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63770" y="2393950"/>
            <a:ext cx="2059880" cy="969764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63770" y="3357364"/>
            <a:ext cx="2059880" cy="6350"/>
          </a:xfrm>
          <a:prstGeom prst="rect">
            <a:avLst/>
          </a:prstGeom>
          <a:solidFill>
            <a:srgbClr val="E6C5B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28659" y="24638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4A22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92159" y="2540000"/>
            <a:ext cx="272383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>
              <a:lnSpc>
                <a:spcPts val="1400"/>
              </a:lnSpc>
            </a:pPr>
            <a:r>
              <a:rPr sz="14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8010" y="2851150"/>
            <a:ext cx="89135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נקודת המוצא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0019" y="3092450"/>
            <a:ext cx="1907480" cy="402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rtl="1">
              <a:lnSpc>
                <a:spcPts val="1586"/>
              </a:lnSpc>
            </a:pPr>
            <a:r>
              <a:rPr sz="13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הנחות עבודה ראשוניות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9970" y="3446264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לקוח יעד ובעיה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9970" y="3682405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תהליך העבודה כיום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9970" y="3918545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רעיון המוצר והחלופות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9970" y="4154686"/>
            <a:ext cx="1907480" cy="396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הנחות לגבי תמחור ופוטנציאל צמיחה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9970" y="4614267"/>
            <a:ext cx="190748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350"/>
              </a:lnSpc>
            </a:pPr>
            <a:r>
              <a:rPr sz="1000" b="0">
                <a:solidFill>
                  <a:srgbClr val="7B7970"/>
                </a:solidFill>
                <a:latin typeface="Arial"/>
                <a:ea typeface="Arial"/>
                <a:cs typeface="Arial"/>
              </a:rPr>
              <a:t>מנוסחות מהידע הענפי שלכם — כהנחות, לא כמסקנות.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8540" y="2387600"/>
            <a:ext cx="2072680" cy="2658467"/>
          </a:xfrm>
          <a:prstGeom prst="rect">
            <a:avLst/>
          </a:prstGeom>
          <a:solidFill>
            <a:srgbClr val="FFFFFF"/>
          </a:solidFill>
          <a:ln w="6350">
            <a:solidFill>
              <a:srgbClr val="E3DFD7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14890" y="2393950"/>
            <a:ext cx="2059980" cy="969764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14890" y="3357364"/>
            <a:ext cx="2059980" cy="6350"/>
          </a:xfrm>
          <a:prstGeom prst="rect">
            <a:avLst/>
          </a:prstGeom>
          <a:solidFill>
            <a:srgbClr val="E6C5B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9780" y="24638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4A22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3280" y="2540000"/>
            <a:ext cx="272383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>
              <a:lnSpc>
                <a:spcPts val="1400"/>
              </a:lnSpc>
            </a:pPr>
            <a:r>
              <a:rPr sz="14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5690" y="2851150"/>
            <a:ext cx="832564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איסוף ראיות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1090" y="3092450"/>
            <a:ext cx="1907580" cy="402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rtl="1">
              <a:lnSpc>
                <a:spcPts val="1586"/>
              </a:lnSpc>
            </a:pPr>
            <a:r>
              <a:rPr sz="13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בדיקת השוק והלקוחות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1090" y="3446264"/>
            <a:ext cx="19075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מיפוי וגודל השוק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1090" y="3682405"/>
            <a:ext cx="1907580" cy="396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סגמנטציה ראשונית של הלקוחות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1090" y="4116586"/>
            <a:ext cx="19075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ראיונות לקוחות ומומחים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1090" y="4352727"/>
            <a:ext cx="19075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ניתוח חלופות ומתחרים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1090" y="4588867"/>
            <a:ext cx="19075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חסמי מעבר ונכונות לשלם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59759" y="2387600"/>
            <a:ext cx="2072580" cy="2658467"/>
          </a:xfrm>
          <a:prstGeom prst="rect">
            <a:avLst/>
          </a:prstGeom>
          <a:solidFill>
            <a:srgbClr val="FFFFFF"/>
          </a:solidFill>
          <a:ln w="6350">
            <a:solidFill>
              <a:srgbClr val="E3DFD7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6109" y="2393950"/>
            <a:ext cx="2059880" cy="969764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66109" y="3357364"/>
            <a:ext cx="2059880" cy="6350"/>
          </a:xfrm>
          <a:prstGeom prst="rect">
            <a:avLst/>
          </a:prstGeom>
          <a:solidFill>
            <a:srgbClr val="E6C5B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30999" y="24638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4A22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94499" y="2540000"/>
            <a:ext cx="272383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>
              <a:lnSpc>
                <a:spcPts val="1400"/>
              </a:lnSpc>
            </a:pPr>
            <a:r>
              <a:rPr sz="14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9115" y="2851150"/>
            <a:ext cx="415734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מיקוד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42359" y="3092450"/>
            <a:ext cx="1907480" cy="402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rtl="1">
              <a:lnSpc>
                <a:spcPts val="1586"/>
              </a:lnSpc>
            </a:pPr>
            <a:r>
              <a:rPr sz="13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חידוד ההזדמנות והמוצר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2309" y="3446264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בחירת סגמנט היעד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2309" y="3682405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הגדרת הלקוח הראשוני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2309" y="3918545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הבעיה המרכזית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2309" y="4154686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הצעת הערך והבידול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2309" y="4390827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גבולות המוצר הראשון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10880" y="2387600"/>
            <a:ext cx="2072680" cy="2658467"/>
          </a:xfrm>
          <a:prstGeom prst="rect">
            <a:avLst/>
          </a:prstGeom>
          <a:solidFill>
            <a:srgbClr val="FFFFFF"/>
          </a:solidFill>
          <a:ln w="6350">
            <a:solidFill>
              <a:srgbClr val="E3DFD7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17230" y="2393950"/>
            <a:ext cx="2059980" cy="1338064"/>
          </a:xfrm>
          <a:prstGeom prst="rect">
            <a:avLst/>
          </a:prstGeom>
          <a:solidFill>
            <a:srgbClr val="E2EDEA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17230" y="3725664"/>
            <a:ext cx="2059980" cy="6350"/>
          </a:xfrm>
          <a:prstGeom prst="rect">
            <a:avLst/>
          </a:prstGeom>
          <a:solidFill>
            <a:srgbClr val="B9D2CE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782120" y="24638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6A69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5620" y="2540000"/>
            <a:ext cx="272383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>
              <a:lnSpc>
                <a:spcPts val="1400"/>
              </a:lnSpc>
            </a:pPr>
            <a:r>
              <a:rPr sz="1400" b="1">
                <a:solidFill>
                  <a:srgbClr val="2E6A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16222" y="2851150"/>
            <a:ext cx="361172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2E6A69"/>
                </a:solidFill>
                <a:latin typeface="Arial"/>
                <a:ea typeface="Arial"/>
                <a:cs typeface="Arial"/>
              </a:rPr>
              <a:t>מודל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93430" y="3092450"/>
            <a:ext cx="1907580" cy="402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rtl="1">
              <a:lnSpc>
                <a:spcPts val="1586"/>
              </a:lnSpc>
            </a:pPr>
            <a:r>
              <a:rPr sz="13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בחינת הכדאיות הכלכלית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93430" y="3331964"/>
            <a:ext cx="190758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rtl="1">
              <a:lnSpc>
                <a:spcPts val="1300"/>
              </a:lnSpc>
            </a:pPr>
            <a:r>
              <a:rPr sz="1000" b="0">
                <a:solidFill>
                  <a:srgbClr val="7B7970"/>
                </a:solidFill>
                <a:latin typeface="Arial"/>
                <a:ea typeface="Arial"/>
                <a:cs typeface="Arial"/>
              </a:rPr>
              <a:t>תרגום ממצאי השוק והגדרת המוצר למודל כלכלי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3430" y="3814564"/>
            <a:ext cx="19075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גודל קהל היעד הרלוונטי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8636" y="4050705"/>
            <a:ext cx="1972374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תמחור והכנסה פוטנציאלית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93430" y="4286845"/>
            <a:ext cx="19075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הנחות חדירה ואימוץ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3430" y="4522986"/>
            <a:ext cx="19075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עלויות פיתוח ותפעול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93430" y="4759127"/>
            <a:ext cx="19075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תרחישים ורגישויות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2099" y="2387600"/>
            <a:ext cx="2072580" cy="2658467"/>
          </a:xfrm>
          <a:prstGeom prst="rect">
            <a:avLst/>
          </a:prstGeom>
          <a:solidFill>
            <a:srgbClr val="FFFFFF"/>
          </a:solidFill>
          <a:ln w="6350">
            <a:solidFill>
              <a:srgbClr val="E3DFD7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8449" y="2393950"/>
            <a:ext cx="2059880" cy="969764"/>
          </a:xfrm>
          <a:prstGeom prst="rect">
            <a:avLst/>
          </a:prstGeom>
          <a:solidFill>
            <a:srgbClr val="E2EDEA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68449" y="3357364"/>
            <a:ext cx="2059880" cy="6350"/>
          </a:xfrm>
          <a:prstGeom prst="rect">
            <a:avLst/>
          </a:prstGeom>
          <a:solidFill>
            <a:srgbClr val="B9D2CE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633339" y="24638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6A69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96839" y="2540000"/>
            <a:ext cx="272383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>
              <a:lnSpc>
                <a:spcPts val="1400"/>
              </a:lnSpc>
            </a:pPr>
            <a:r>
              <a:rPr sz="1400" b="1">
                <a:solidFill>
                  <a:srgbClr val="2E6A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1907" y="2851150"/>
            <a:ext cx="503857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2E6A69"/>
                </a:solidFill>
                <a:latin typeface="Arial"/>
                <a:ea typeface="Arial"/>
                <a:cs typeface="Arial"/>
              </a:rPr>
              <a:t>מסקנה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1090" y="3092450"/>
            <a:ext cx="1894697" cy="2014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rtl="1">
              <a:lnSpc>
                <a:spcPts val="1586"/>
              </a:lnSpc>
            </a:pPr>
            <a:r>
              <a:rPr sz="13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החלטה ותוכנית פעולה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4649" y="3446264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אבני דרך ושערי החלטה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4649" y="3682405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שלבי בדיקה ופיתוח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4649" y="3918545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דרך ראשונית לשוק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4649" y="4154686"/>
            <a:ext cx="1907480" cy="198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אחריות וצעדים הבאים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59759" y="5187950"/>
            <a:ext cx="6370241" cy="527050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59759" y="5187950"/>
            <a:ext cx="6370241" cy="254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56950" y="5289550"/>
            <a:ext cx="214376" cy="2043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>
              <a:lnSpc>
                <a:spcPts val="1610"/>
              </a:lnSpc>
            </a:pPr>
            <a:r>
              <a:rPr sz="14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51809" y="5289550"/>
            <a:ext cx="6116241" cy="4115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12212F"/>
                </a:solidFill>
                <a:latin typeface="Arial"/>
                <a:ea typeface="Arial"/>
                <a:cs typeface="Arial"/>
              </a:rPr>
              <a:t>שלבים 1–3 מחזוריים: ראיות מהשוק מחזירות אותנו לחדד את ההנחות ואת הגדרת המוצר.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2099" y="5187950"/>
            <a:ext cx="4221460" cy="527050"/>
          </a:xfrm>
          <a:prstGeom prst="rect">
            <a:avLst/>
          </a:prstGeom>
          <a:solidFill>
            <a:srgbClr val="E2EDEA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2099" y="5187950"/>
            <a:ext cx="4221460" cy="2540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498380" y="5324475"/>
            <a:ext cx="358180" cy="27305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80930" y="5368925"/>
            <a:ext cx="289163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>
              <a:lnSpc>
                <a:spcPts val="1200"/>
              </a:lnSpc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66840" y="5324475"/>
            <a:ext cx="680740" cy="2730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9390" y="5368925"/>
            <a:ext cx="6711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>
              <a:lnSpc>
                <a:spcPts val="1200"/>
              </a:lnSpc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ADJUST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96530" y="5324475"/>
            <a:ext cx="519509" cy="273050"/>
          </a:xfrm>
          <a:prstGeom prst="rect">
            <a:avLst/>
          </a:prstGeom>
          <a:solidFill>
            <a:srgbClr val="12212F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79080" y="5368925"/>
            <a:ext cx="469741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>
              <a:lnSpc>
                <a:spcPts val="1200"/>
              </a:lnSpc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9099" y="5289550"/>
            <a:ext cx="2180431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350"/>
              </a:lnSpc>
            </a:pPr>
            <a:r>
              <a:rPr sz="10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שלב 5 נפתח באחת משלוש התוצאות — כולן לגיטימיות.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2000" y="6007100"/>
            <a:ext cx="10668000" cy="635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46218" y="6121400"/>
            <a:ext cx="1683782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0">
                <a:solidFill>
                  <a:srgbClr val="7B7970"/>
                </a:solidFill>
                <a:latin typeface="Arial"/>
                <a:ea typeface="Arial"/>
                <a:cs typeface="Arial"/>
              </a:rPr>
              <a:t>תהליך מחזורי — לא ליניארי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9846" y="6121400"/>
            <a:ext cx="485854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4C4A44"/>
                </a:solidFill>
                <a:latin typeface="Arial"/>
                <a:ea typeface="Arial"/>
                <a:cs typeface="Arial"/>
              </a:rPr>
              <a:t>⁦04 / 08⁩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53700" y="508000"/>
            <a:ext cx="876300" cy="2984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87501" y="552450"/>
            <a:ext cx="840899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דרכי עבודה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901700"/>
            <a:ext cx="9525000" cy="426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3360"/>
              </a:lnSpc>
            </a:pPr>
            <a:r>
              <a:rPr sz="2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שתי דרכים לבחון את ההזדמנות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76371" y="1828800"/>
            <a:ext cx="9353629" cy="2742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אותה מסגרת אסטרטגית. ההבדל הוא מי מבצע את המחקר — ומכאן עומק הראיות ומידת עצמאותן.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4900" y="2387600"/>
            <a:ext cx="5245100" cy="332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3DFD7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0" y="2393950"/>
            <a:ext cx="5232400" cy="4191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9050" y="2489200"/>
            <a:ext cx="48768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חלופה א׳ — ליווי אסטרטגי מונחה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9050" y="3427611"/>
            <a:ext cx="4876800" cy="635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9050" y="2927350"/>
            <a:ext cx="4876800" cy="4113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אלון מוביל את המתודולוגיה, המסגרות, הניתוח והמודל הכלכלי; בן ואופק משלימים משימות בין המפגשים.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6350" y="3535561"/>
            <a:ext cx="23495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אלון מוביל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6350" y="3770511"/>
            <a:ext cx="2349500" cy="6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מתודולוגיה ומסגרות עבודה · אתגור הנחות · ניתוח ממצאים · מודל כלכלי · סינתזה ומסקנות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9050" y="3535561"/>
            <a:ext cx="23495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בן ואופק משלימים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9050" y="3770511"/>
            <a:ext cx="2349500" cy="6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נתונים פנימיים · איסוף מידע מהשוק · בדיקות שטח בהתאם להנחיות · משימות בין המפגשים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9050" y="4476452"/>
            <a:ext cx="4876800" cy="351730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220450" y="4476452"/>
            <a:ext cx="25400" cy="35173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350" y="4546302"/>
            <a:ext cx="46228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12212F"/>
                </a:solidFill>
                <a:latin typeface="Arial"/>
                <a:ea typeface="Arial"/>
                <a:cs typeface="Arial"/>
              </a:rPr>
              <a:t>ראיונות עומק קריטיים יבוצעו בהובלתי לפי הצורך.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69050" y="4954389"/>
            <a:ext cx="4876800" cy="635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36250" y="5049639"/>
            <a:ext cx="6096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יתרון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204" y="5036939"/>
            <a:ext cx="4329446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תהליך חסכוני ומהיר יותר, הנשען על היכרות קיימת עם הענף.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9050" y="5306120"/>
            <a:ext cx="4876800" cy="635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36250" y="5401370"/>
            <a:ext cx="6096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7B7970"/>
                </a:solidFill>
                <a:latin typeface="Arial"/>
                <a:ea typeface="Arial"/>
                <a:cs typeface="Arial"/>
              </a:rPr>
              <a:t>מגבלה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9050" y="5388670"/>
            <a:ext cx="41656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רמת התיקוף החיצוני והעצמאי נמוכה יותר.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2387600"/>
            <a:ext cx="5245100" cy="332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3DFD7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350" y="2393950"/>
            <a:ext cx="5232400" cy="41910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150" y="2489200"/>
            <a:ext cx="48768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חלופה ב׳ — תהליך מחקר מלא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150" y="3427611"/>
            <a:ext cx="4876800" cy="635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150" y="2927350"/>
            <a:ext cx="4876800" cy="4113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אלון מוביל את המחקר והניתוח מקצה לקצה — עיצוב המחקר, עבודת השטח והראיונות מול לקוחות ומומחים.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3450" y="3535561"/>
            <a:ext cx="23495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אלון מוביל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3450" y="3770511"/>
            <a:ext cx="2349500" cy="6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מיפוי שוק · ניתוח חלופות ומתחרים · עיצוב המחקר · ראיונות עומק · סינתזת ראיות · מודל כלכלי · מפת דרכים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150" y="3535561"/>
            <a:ext cx="23495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בן ואופק מספקים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150" y="3770511"/>
            <a:ext cx="2349500" cy="4113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גישה ונתונים פנימיים · הקשר ענפי · הפניות · שותפות בהחלטות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150" y="4954389"/>
            <a:ext cx="4876800" cy="635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3350" y="5049639"/>
            <a:ext cx="6096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2E6A69"/>
                </a:solidFill>
                <a:latin typeface="Arial"/>
                <a:ea typeface="Arial"/>
                <a:cs typeface="Arial"/>
              </a:rPr>
              <a:t>יתרון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150" y="5036939"/>
            <a:ext cx="41656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רמת עומק, עצמאות ואיכות ראיות גבוהה יותר.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6150" y="5306120"/>
            <a:ext cx="4876800" cy="635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3350" y="5401370"/>
            <a:ext cx="6096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7B7970"/>
                </a:solidFill>
                <a:latin typeface="Arial"/>
                <a:ea typeface="Arial"/>
                <a:cs typeface="Arial"/>
              </a:rPr>
              <a:t>מגבלה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150" y="5388670"/>
            <a:ext cx="41656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22384A"/>
                </a:solidFill>
                <a:latin typeface="Arial"/>
                <a:ea typeface="Arial"/>
                <a:cs typeface="Arial"/>
              </a:rPr>
              <a:t>היקף עבודה גדול יותר, ולכן גם לוח זמנים ארוך יותר.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2000" y="6007100"/>
            <a:ext cx="10668000" cy="635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8405" y="6121400"/>
            <a:ext cx="2851595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0">
                <a:solidFill>
                  <a:srgbClr val="7B7970"/>
                </a:solidFill>
                <a:latin typeface="Arial"/>
                <a:ea typeface="Arial"/>
                <a:cs typeface="Arial"/>
              </a:rPr>
              <a:t>אותה מסגרת אסטרטגית · הבדל בעומק התיקוף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846" y="6121400"/>
            <a:ext cx="485854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4C4A44"/>
                </a:solidFill>
                <a:latin typeface="Arial"/>
                <a:ea typeface="Arial"/>
                <a:cs typeface="Arial"/>
              </a:rPr>
              <a:t>⁦05 / 08⁩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41050" y="508000"/>
            <a:ext cx="488950" cy="2984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55338" y="552450"/>
            <a:ext cx="373063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לדיון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901700"/>
            <a:ext cx="9525000" cy="426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3360"/>
              </a:lnSpc>
            </a:pPr>
            <a:r>
              <a:rPr sz="2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מה חשוב שנבין היום?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0" y="1828800"/>
            <a:ext cx="8636000" cy="2742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חמש שאלות שיקבעו את מטרת העבודה ואת רמת הבדיקה המתאימה.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74400" y="2542480"/>
            <a:ext cx="355600" cy="3556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7C2B8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7100" y="255518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1300"/>
              </a:lnSpc>
            </a:pPr>
            <a:r>
              <a:rPr sz="1300" b="1">
                <a:solidFill>
                  <a:srgbClr val="4158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08858"/>
            <a:ext cx="10134600" cy="222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5"/>
              </a:lnSpc>
            </a:pPr>
            <a:r>
              <a:rPr sz="1300" b="0">
                <a:solidFill>
                  <a:srgbClr val="12212F"/>
                </a:solidFill>
                <a:latin typeface="Arial"/>
                <a:ea typeface="Arial"/>
                <a:cs typeface="Arial"/>
              </a:rPr>
              <a:t>מה בדיוק במצב הקיים גרם לכם לומר: "צריך לבנות לזה פתרון אחר"?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74400" y="3207941"/>
            <a:ext cx="355600" cy="3556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7C2B8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87100" y="3220641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1300"/>
              </a:lnSpc>
            </a:pPr>
            <a:r>
              <a:rPr sz="1300" b="1">
                <a:solidFill>
                  <a:srgbClr val="4158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74318"/>
            <a:ext cx="10134600" cy="222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5"/>
              </a:lnSpc>
            </a:pPr>
            <a:r>
              <a:rPr sz="1300" b="0">
                <a:solidFill>
                  <a:srgbClr val="12212F"/>
                </a:solidFill>
                <a:latin typeface="Arial"/>
                <a:ea typeface="Arial"/>
                <a:cs typeface="Arial"/>
              </a:rPr>
              <a:t>למי אתם חושבים שהמוצר הראשון מיועד — ומה גורם לכם לחשוב שזה הלקוח הנכון?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74400" y="3873401"/>
            <a:ext cx="355600" cy="3556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7C2B8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87100" y="3886101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1300"/>
              </a:lnSpc>
            </a:pPr>
            <a:r>
              <a:rPr sz="1300" b="1">
                <a:solidFill>
                  <a:srgbClr val="4158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939778"/>
            <a:ext cx="10134600" cy="222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5"/>
              </a:lnSpc>
            </a:pPr>
            <a:r>
              <a:rPr sz="1300" b="0">
                <a:solidFill>
                  <a:srgbClr val="12212F"/>
                </a:solidFill>
                <a:latin typeface="Arial"/>
                <a:ea typeface="Arial"/>
                <a:cs typeface="Arial"/>
              </a:rPr>
              <a:t>מה כבר עשיתם עד היום: אפיון, שיחות עם לקוחות, נתונים, הצעות פיתוח או בדיקות אחרות?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74400" y="4538861"/>
            <a:ext cx="355600" cy="3556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7C2B8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7100" y="4551561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1300"/>
              </a:lnSpc>
            </a:pPr>
            <a:r>
              <a:rPr sz="1300" b="1">
                <a:solidFill>
                  <a:srgbClr val="4158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605238"/>
            <a:ext cx="10134600" cy="222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5"/>
              </a:lnSpc>
            </a:pPr>
            <a:r>
              <a:rPr sz="1300" b="0">
                <a:solidFill>
                  <a:srgbClr val="12212F"/>
                </a:solidFill>
                <a:latin typeface="Arial"/>
                <a:ea typeface="Arial"/>
                <a:cs typeface="Arial"/>
              </a:rPr>
              <a:t>מה אתם רוצים שהמיזם הזה יהיה בעוד 3–5 שנים — ומה מבחינתכם ייחשב הצלחה?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4200" y="5049441"/>
            <a:ext cx="11023600" cy="665559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074400" y="52044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B44A22"/>
          </a:solidFill>
          <a:ln w="12700">
            <a:solidFill>
              <a:srgbClr val="B44A22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87100" y="521712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1300"/>
              </a:lnSpc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270798"/>
            <a:ext cx="10134600" cy="222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5"/>
              </a:lnSpc>
            </a:pPr>
            <a:r>
              <a:rPr sz="13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מה הייתם רוצים לדעת בסוף תהליך הבדיקה כדי להרגיש בנוח לקבל החלטה על ההשקעה הבאה?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6007100"/>
            <a:ext cx="10668000" cy="635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74605" y="6121400"/>
            <a:ext cx="1255395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0">
                <a:solidFill>
                  <a:srgbClr val="7B7970"/>
                </a:solidFill>
                <a:latin typeface="Arial"/>
                <a:ea typeface="Arial"/>
                <a:cs typeface="Arial"/>
              </a:rPr>
              <a:t>פגישת היכרות ומיפוי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846" y="6121400"/>
            <a:ext cx="485854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4C4A44"/>
                </a:solidFill>
                <a:latin typeface="Arial"/>
                <a:ea typeface="Arial"/>
                <a:cs typeface="Arial"/>
              </a:rPr>
              <a:t>⁦06 / 08⁩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58450" y="508000"/>
            <a:ext cx="971550" cy="2984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80377" y="552450"/>
            <a:ext cx="948023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תעריף והיקף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901700"/>
            <a:ext cx="9525000" cy="426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3360"/>
              </a:lnSpc>
            </a:pPr>
            <a:r>
              <a:rPr sz="2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מסגרת התקשרות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0" y="1828800"/>
            <a:ext cx="8636000" cy="2742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התעריף זהה בשני המסלולים; היקף העבודה נגזר מאופי התהליך ומחלוקת המשימות.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387600"/>
            <a:ext cx="10668000" cy="808930"/>
          </a:xfrm>
          <a:prstGeom prst="rect">
            <a:avLst/>
          </a:prstGeom>
          <a:solidFill>
            <a:srgbClr val="12212F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8027" y="2774950"/>
            <a:ext cx="456073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B9D2CE"/>
                </a:solidFill>
                <a:latin typeface="Arial"/>
                <a:ea typeface="Arial"/>
                <a:cs typeface="Arial"/>
              </a:rPr>
              <a:t>תעריף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3150" y="2552700"/>
            <a:ext cx="857790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>
              <a:lnSpc>
                <a:spcPts val="357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7428" y="2724150"/>
            <a:ext cx="226822" cy="260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3032" y="2724150"/>
            <a:ext cx="727218" cy="260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1">
                <a:solidFill>
                  <a:srgbClr val="E6C5B2"/>
                </a:solidFill>
                <a:latin typeface="Arial"/>
                <a:ea typeface="Arial"/>
                <a:cs typeface="Arial"/>
              </a:rPr>
              <a:t>+ מע"מ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714" y="2736850"/>
            <a:ext cx="913686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56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לשעת ייעוץ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4900" y="3361630"/>
            <a:ext cx="5245100" cy="17685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4900" y="3361630"/>
            <a:ext cx="5245100" cy="317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4900" y="5123855"/>
            <a:ext cx="5245100" cy="635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4900" y="3361630"/>
            <a:ext cx="6350" cy="1768574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23650" y="3361630"/>
            <a:ext cx="6350" cy="1768574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69050" y="3856930"/>
            <a:ext cx="4876800" cy="635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9050" y="3545780"/>
            <a:ext cx="48768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0"/>
              </a:lnSpc>
            </a:pPr>
            <a:r>
              <a:rPr sz="14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חלופה א׳ — ליווי אסטרטגי מונחה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9050" y="3964880"/>
            <a:ext cx="48768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7B7970"/>
                </a:solidFill>
                <a:latin typeface="Arial"/>
                <a:ea typeface="Arial"/>
                <a:cs typeface="Arial"/>
              </a:rPr>
              <a:t>היקף ראשוני משוער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9050" y="4187130"/>
            <a:ext cx="48768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250"/>
              </a:lnSpc>
            </a:pPr>
            <a:r>
              <a:rPr sz="18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כ־</a:t>
            </a:r>
            <a:r>
              <a:rPr sz="18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⁦20–40⁩</a:t>
            </a:r>
            <a:r>
              <a:rPr sz="1800" b="1">
                <a:solidFill>
                  <a:srgbClr val="B44A22"/>
                </a:solidFill>
                <a:latin typeface="Arial"/>
                <a:ea typeface="Arial"/>
                <a:cs typeface="Arial"/>
              </a:rPr>
              <a:t> שעות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9050" y="4765774"/>
            <a:ext cx="48768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טווח אינדיקטיבי בלבד — תלוי בהגדרת ההיקף ובחלוקת המשימות.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361630"/>
            <a:ext cx="5245100" cy="17685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3361630"/>
            <a:ext cx="5245100" cy="3175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000" y="5123855"/>
            <a:ext cx="5245100" cy="635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" y="3361630"/>
            <a:ext cx="6350" cy="1768574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00750" y="3361630"/>
            <a:ext cx="6350" cy="1768574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6150" y="3856930"/>
            <a:ext cx="4876800" cy="6350"/>
          </a:xfrm>
          <a:prstGeom prst="rect">
            <a:avLst/>
          </a:prstGeom>
          <a:solidFill>
            <a:srgbClr val="E3DFD7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150" y="3545780"/>
            <a:ext cx="48768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0"/>
              </a:lnSpc>
            </a:pPr>
            <a:r>
              <a:rPr sz="14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חלופה ב׳ — תהליך מחקר מלא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150" y="3964880"/>
            <a:ext cx="48768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7B7970"/>
                </a:solidFill>
                <a:latin typeface="Arial"/>
                <a:ea typeface="Arial"/>
                <a:cs typeface="Arial"/>
              </a:rPr>
              <a:t>היקף העבודה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150" y="4187130"/>
            <a:ext cx="48768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0"/>
              </a:lnSpc>
            </a:pPr>
            <a:r>
              <a:rPr sz="1400" b="1">
                <a:solidFill>
                  <a:srgbClr val="2E6A69"/>
                </a:solidFill>
                <a:latin typeface="Arial"/>
                <a:ea typeface="Arial"/>
                <a:cs typeface="Arial"/>
              </a:rPr>
              <a:t>יוגדר לאחר פגישת המיפוי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150" y="4765774"/>
            <a:ext cx="4876800" cy="20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620"/>
              </a:lnSpc>
            </a:pPr>
            <a:r>
              <a:rPr sz="12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בהתאם לעומק המחקר, מספר הסגמנטים והיקף עבודת השטח.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5295305"/>
            <a:ext cx="10668000" cy="419695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98250" y="5295305"/>
            <a:ext cx="31750" cy="419695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7100" y="5390555"/>
            <a:ext cx="10306050" cy="222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755"/>
              </a:lnSpc>
            </a:pPr>
            <a:r>
              <a:rPr sz="1300" b="0">
                <a:solidFill>
                  <a:srgbClr val="12212F"/>
                </a:solidFill>
                <a:latin typeface="Arial"/>
                <a:ea typeface="Arial"/>
                <a:cs typeface="Arial"/>
              </a:rPr>
              <a:t>לאחר הפגישה ניתן יהיה לגבש </a:t>
            </a:r>
            <a:r>
              <a:rPr sz="1300" b="0">
                <a:solidFill>
                  <a:srgbClr val="12212F"/>
                </a:solidFill>
                <a:latin typeface="Arial"/>
                <a:ea typeface="Arial"/>
                <a:cs typeface="Arial"/>
              </a:rPr>
              <a:t>⁦Scope⁩</a:t>
            </a:r>
            <a:r>
              <a:rPr sz="1300" b="0">
                <a:solidFill>
                  <a:srgbClr val="12212F"/>
                </a:solidFill>
                <a:latin typeface="Arial"/>
                <a:ea typeface="Arial"/>
                <a:cs typeface="Arial"/>
              </a:rPr>
              <a:t>, הערכת שעות והצעת עבודה מסודרת.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" y="6007100"/>
            <a:ext cx="10668000" cy="635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31079" y="6121400"/>
            <a:ext cx="2798921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0">
                <a:solidFill>
                  <a:srgbClr val="7B7970"/>
                </a:solidFill>
                <a:latin typeface="Arial"/>
                <a:ea typeface="Arial"/>
                <a:cs typeface="Arial"/>
              </a:rPr>
              <a:t>תעריף שעתי · היקף ייקבע לאחר פגישת המיפוי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846" y="6121400"/>
            <a:ext cx="485854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4C4A44"/>
                </a:solidFill>
                <a:latin typeface="Arial"/>
                <a:ea typeface="Arial"/>
                <a:cs typeface="Arial"/>
              </a:rPr>
              <a:t>⁦07 / 08⁩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0350" y="508000"/>
            <a:ext cx="1009650" cy="29845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24814" y="552450"/>
            <a:ext cx="1003586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צעדים הבאים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901700"/>
            <a:ext cx="9525000" cy="426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3360"/>
              </a:lnSpc>
            </a:pPr>
            <a:r>
              <a:rPr sz="2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איך מתקדמים מכאן?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0" y="1828800"/>
            <a:ext cx="8636000" cy="2742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>
                <a:solidFill>
                  <a:srgbClr val="4C4A44"/>
                </a:solidFill>
                <a:latin typeface="Arial"/>
                <a:ea typeface="Arial"/>
                <a:cs typeface="Arial"/>
              </a:rPr>
              <a:t>ארבעה צעדים מכאן לשלב הבדיקה.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7775" y="3003550"/>
            <a:ext cx="2562225" cy="2095500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80700" y="3181350"/>
            <a:ext cx="609600" cy="6096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80700" y="318135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2800"/>
              </a:lnSpc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7475" y="4324350"/>
            <a:ext cx="2282825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250"/>
              </a:lnSpc>
            </a:pPr>
            <a:r>
              <a:rPr sz="1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מחדדים את מטרת העבודה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5850" y="3003550"/>
            <a:ext cx="2562225" cy="2095500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78775" y="3181350"/>
            <a:ext cx="609600" cy="6096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775" y="318135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2800"/>
              </a:lnSpc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5550" y="4324350"/>
            <a:ext cx="2282825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250"/>
              </a:lnSpc>
            </a:pPr>
            <a:r>
              <a:rPr sz="1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בוחרים את מודל העבודה המתאים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3925" y="3003550"/>
            <a:ext cx="2562225" cy="2095500"/>
          </a:xfrm>
          <a:prstGeom prst="rect">
            <a:avLst/>
          </a:prstGeom>
          <a:solidFill>
            <a:srgbClr val="F8E7DD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76850" y="3181350"/>
            <a:ext cx="609600" cy="609600"/>
          </a:xfrm>
          <a:prstGeom prst="rect">
            <a:avLst/>
          </a:prstGeom>
          <a:solidFill>
            <a:srgbClr val="B44A22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850" y="318135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2800"/>
              </a:lnSpc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3625" y="4324350"/>
            <a:ext cx="2282825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250"/>
              </a:lnSpc>
            </a:pPr>
            <a:r>
              <a:rPr sz="1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מגדירים </a:t>
            </a:r>
            <a:r>
              <a:rPr sz="1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⁦Scope⁩</a:t>
            </a:r>
            <a:r>
              <a:rPr sz="18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, תוצרים והערכת שעות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3003550"/>
            <a:ext cx="2562225" cy="2095500"/>
          </a:xfrm>
          <a:prstGeom prst="rect">
            <a:avLst/>
          </a:prstGeom>
          <a:solidFill>
            <a:srgbClr val="2E6A69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4925" y="3181350"/>
            <a:ext cx="6096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4925" y="318135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>
              <a:lnSpc>
                <a:spcPts val="2800"/>
              </a:lnSpc>
            </a:pPr>
            <a:r>
              <a:rPr sz="2800" b="1">
                <a:solidFill>
                  <a:srgbClr val="2E6A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" y="4610100"/>
            <a:ext cx="2282825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225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יוצאים לשלב הבדיקה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6007100"/>
            <a:ext cx="10668000" cy="635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74605" y="6121400"/>
            <a:ext cx="1255395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0">
                <a:solidFill>
                  <a:srgbClr val="7B7970"/>
                </a:solidFill>
                <a:latin typeface="Arial"/>
                <a:ea typeface="Arial"/>
                <a:cs typeface="Arial"/>
              </a:rPr>
              <a:t>פגישת היכרות ומיפוי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846" y="6121400"/>
            <a:ext cx="485854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ts val="1200"/>
              </a:lnSpc>
            </a:pPr>
            <a:r>
              <a:rPr sz="1000" b="1">
                <a:solidFill>
                  <a:srgbClr val="4C4A44"/>
                </a:solidFill>
                <a:latin typeface="Arial"/>
                <a:ea typeface="Arial"/>
                <a:cs typeface="Arial"/>
              </a:rPr>
              <a:t>⁦08 / 08⁩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